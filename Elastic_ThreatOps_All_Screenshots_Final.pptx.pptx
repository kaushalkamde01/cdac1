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6858000" cy="9144000"/>
  <p:embeddedFontLst>
    <p:embeddedFont>
      <p:font typeface="Arial Bold" charset="1" panose="020B0704020202020204"/>
      <p:regular r:id="rId49"/>
    </p:embeddedFont>
    <p:embeddedFont>
      <p:font typeface="Arial" charset="1" panose="020B0604020202020204"/>
      <p:regular r:id="rId50"/>
    </p:embeddedFont>
    <p:embeddedFont>
      <p:font typeface="Tomorrow" charset="1" panose="0000000000000000000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5.pn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40.png" Type="http://schemas.openxmlformats.org/officeDocument/2006/relationships/image"/><Relationship Id="rId24" Target="../media/image41.svg" Type="http://schemas.openxmlformats.org/officeDocument/2006/relationships/image"/><Relationship Id="rId25" Target="../media/image42.png" Type="http://schemas.openxmlformats.org/officeDocument/2006/relationships/image"/><Relationship Id="rId26" Target="../media/image43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14" Target="../media/image51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15" Target="../media/image62.png" Type="http://schemas.openxmlformats.org/officeDocument/2006/relationships/image"/><Relationship Id="rId16" Target="../media/image63.svg" Type="http://schemas.openxmlformats.org/officeDocument/2006/relationships/image"/><Relationship Id="rId17" Target="../media/image64.png" Type="http://schemas.openxmlformats.org/officeDocument/2006/relationships/image"/><Relationship Id="rId18" Target="../media/image65.svg" Type="http://schemas.openxmlformats.org/officeDocument/2006/relationships/image"/><Relationship Id="rId19" Target="../media/image66.png" Type="http://schemas.openxmlformats.org/officeDocument/2006/relationships/image"/><Relationship Id="rId2" Target="../media/image15.png" Type="http://schemas.openxmlformats.org/officeDocument/2006/relationships/image"/><Relationship Id="rId20" Target="../media/image67.svg" Type="http://schemas.openxmlformats.org/officeDocument/2006/relationships/image"/><Relationship Id="rId21" Target="../media/image68.png" Type="http://schemas.openxmlformats.org/officeDocument/2006/relationships/image"/><Relationship Id="rId22" Target="../media/image69.svg" Type="http://schemas.openxmlformats.org/officeDocument/2006/relationships/image"/><Relationship Id="rId23" Target="../media/image70.png" Type="http://schemas.openxmlformats.org/officeDocument/2006/relationships/image"/><Relationship Id="rId24" Target="../media/image71.svg" Type="http://schemas.openxmlformats.org/officeDocument/2006/relationships/image"/><Relationship Id="rId25" Target="../media/image72.png" Type="http://schemas.openxmlformats.org/officeDocument/2006/relationships/image"/><Relationship Id="rId26" Target="../media/image73.svg" Type="http://schemas.openxmlformats.org/officeDocument/2006/relationships/image"/><Relationship Id="rId27" Target="../media/image74.png" Type="http://schemas.openxmlformats.org/officeDocument/2006/relationships/image"/><Relationship Id="rId28" Target="../media/image75.svg" Type="http://schemas.openxmlformats.org/officeDocument/2006/relationships/image"/><Relationship Id="rId29" Target="../media/image76.png" Type="http://schemas.openxmlformats.org/officeDocument/2006/relationships/image"/><Relationship Id="rId3" Target="../media/image16.svg" Type="http://schemas.openxmlformats.org/officeDocument/2006/relationships/image"/><Relationship Id="rId30" Target="../media/image77.svg" Type="http://schemas.openxmlformats.org/officeDocument/2006/relationships/image"/><Relationship Id="rId31" Target="../media/image78.png" Type="http://schemas.openxmlformats.org/officeDocument/2006/relationships/image"/><Relationship Id="rId32" Target="../media/image79.svg" Type="http://schemas.openxmlformats.org/officeDocument/2006/relationships/image"/><Relationship Id="rId33" Target="../media/image80.png" Type="http://schemas.openxmlformats.org/officeDocument/2006/relationships/image"/><Relationship Id="rId34" Target="../media/image81.svg" Type="http://schemas.openxmlformats.org/officeDocument/2006/relationships/image"/><Relationship Id="rId35" Target="../media/image82.png" Type="http://schemas.openxmlformats.org/officeDocument/2006/relationships/image"/><Relationship Id="rId36" Target="../media/image83.svg" Type="http://schemas.openxmlformats.org/officeDocument/2006/relationships/image"/><Relationship Id="rId37" Target="../media/image84.png" Type="http://schemas.openxmlformats.org/officeDocument/2006/relationships/image"/><Relationship Id="rId38" Target="../media/image85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92.png" Type="http://schemas.openxmlformats.org/officeDocument/2006/relationships/image"/><Relationship Id="rId14" Target="../media/image9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86.png" Type="http://schemas.openxmlformats.org/officeDocument/2006/relationships/image"/><Relationship Id="rId8" Target="../media/image87.sv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svg" Type="http://schemas.openxmlformats.org/officeDocument/2006/relationships/image"/><Relationship Id="rId11" Target="../media/image98.png" Type="http://schemas.openxmlformats.org/officeDocument/2006/relationships/image"/><Relationship Id="rId12" Target="../media/image99.svg" Type="http://schemas.openxmlformats.org/officeDocument/2006/relationships/image"/><Relationship Id="rId13" Target="../media/image100.png" Type="http://schemas.openxmlformats.org/officeDocument/2006/relationships/image"/><Relationship Id="rId14" Target="../media/image101.svg" Type="http://schemas.openxmlformats.org/officeDocument/2006/relationships/image"/><Relationship Id="rId15" Target="../media/image102.png" Type="http://schemas.openxmlformats.org/officeDocument/2006/relationships/image"/><Relationship Id="rId16" Target="../media/image103.svg" Type="http://schemas.openxmlformats.org/officeDocument/2006/relationships/image"/><Relationship Id="rId17" Target="../media/image104.png" Type="http://schemas.openxmlformats.org/officeDocument/2006/relationships/image"/><Relationship Id="rId18" Target="../media/image105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94.png" Type="http://schemas.openxmlformats.org/officeDocument/2006/relationships/image"/><Relationship Id="rId8" Target="../media/image95.sv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123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16.png" Type="http://schemas.openxmlformats.org/officeDocument/2006/relationships/image"/><Relationship Id="rId5" Target="../media/image117.svg" Type="http://schemas.openxmlformats.org/officeDocument/2006/relationships/image"/><Relationship Id="rId6" Target="../media/image118.png" Type="http://schemas.openxmlformats.org/officeDocument/2006/relationships/image"/><Relationship Id="rId7" Target="../media/image119.svg" Type="http://schemas.openxmlformats.org/officeDocument/2006/relationships/image"/><Relationship Id="rId8" Target="../media/image120.png" Type="http://schemas.openxmlformats.org/officeDocument/2006/relationships/image"/><Relationship Id="rId9" Target="../media/image1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png" Type="http://schemas.openxmlformats.org/officeDocument/2006/relationships/image"/><Relationship Id="rId11" Target="../media/image131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24.png" Type="http://schemas.openxmlformats.org/officeDocument/2006/relationships/image"/><Relationship Id="rId5" Target="../media/image125.svg" Type="http://schemas.openxmlformats.org/officeDocument/2006/relationships/image"/><Relationship Id="rId6" Target="../media/image126.png" Type="http://schemas.openxmlformats.org/officeDocument/2006/relationships/image"/><Relationship Id="rId7" Target="../media/image127.svg" Type="http://schemas.openxmlformats.org/officeDocument/2006/relationships/image"/><Relationship Id="rId8" Target="../media/image128.png" Type="http://schemas.openxmlformats.org/officeDocument/2006/relationships/image"/><Relationship Id="rId9" Target="../media/image1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8.png" Type="http://schemas.openxmlformats.org/officeDocument/2006/relationships/image"/><Relationship Id="rId11" Target="../media/image139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32.png" Type="http://schemas.openxmlformats.org/officeDocument/2006/relationships/image"/><Relationship Id="rId5" Target="../media/image133.svg" Type="http://schemas.openxmlformats.org/officeDocument/2006/relationships/image"/><Relationship Id="rId6" Target="../media/image134.png" Type="http://schemas.openxmlformats.org/officeDocument/2006/relationships/image"/><Relationship Id="rId7" Target="../media/image135.svg" Type="http://schemas.openxmlformats.org/officeDocument/2006/relationships/image"/><Relationship Id="rId8" Target="../media/image136.png" Type="http://schemas.openxmlformats.org/officeDocument/2006/relationships/image"/><Relationship Id="rId9" Target="../media/image1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png" Type="http://schemas.openxmlformats.org/officeDocument/2006/relationships/image"/><Relationship Id="rId11" Target="../media/image147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40.png" Type="http://schemas.openxmlformats.org/officeDocument/2006/relationships/image"/><Relationship Id="rId5" Target="../media/image141.svg" Type="http://schemas.openxmlformats.org/officeDocument/2006/relationships/image"/><Relationship Id="rId6" Target="../media/image142.png" Type="http://schemas.openxmlformats.org/officeDocument/2006/relationships/image"/><Relationship Id="rId7" Target="../media/image143.svg" Type="http://schemas.openxmlformats.org/officeDocument/2006/relationships/image"/><Relationship Id="rId8" Target="../media/image144.png" Type="http://schemas.openxmlformats.org/officeDocument/2006/relationships/image"/><Relationship Id="rId9" Target="../media/image14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svg" Type="http://schemas.openxmlformats.org/officeDocument/2006/relationships/image"/><Relationship Id="rId11" Target="../media/image152.png" Type="http://schemas.openxmlformats.org/officeDocument/2006/relationships/image"/><Relationship Id="rId12" Target="../media/image153.svg" Type="http://schemas.openxmlformats.org/officeDocument/2006/relationships/image"/><Relationship Id="rId13" Target="../media/image154.png" Type="http://schemas.openxmlformats.org/officeDocument/2006/relationships/image"/><Relationship Id="rId14" Target="../media/image155.svg" Type="http://schemas.openxmlformats.org/officeDocument/2006/relationships/image"/><Relationship Id="rId15" Target="../media/image156.png" Type="http://schemas.openxmlformats.org/officeDocument/2006/relationships/image"/><Relationship Id="rId16" Target="../media/image157.svg" Type="http://schemas.openxmlformats.org/officeDocument/2006/relationships/image"/><Relationship Id="rId17" Target="../media/image158.png" Type="http://schemas.openxmlformats.org/officeDocument/2006/relationships/image"/><Relationship Id="rId18" Target="../media/image159.svg" Type="http://schemas.openxmlformats.org/officeDocument/2006/relationships/image"/><Relationship Id="rId19" Target="../media/image160.png" Type="http://schemas.openxmlformats.org/officeDocument/2006/relationships/image"/><Relationship Id="rId2" Target="../media/image15.png" Type="http://schemas.openxmlformats.org/officeDocument/2006/relationships/image"/><Relationship Id="rId20" Target="../media/image161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48.png" Type="http://schemas.openxmlformats.org/officeDocument/2006/relationships/image"/><Relationship Id="rId8" Target="../media/image149.svg" Type="http://schemas.openxmlformats.org/officeDocument/2006/relationships/image"/><Relationship Id="rId9" Target="../media/image1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svg" Type="http://schemas.openxmlformats.org/officeDocument/2006/relationships/image"/><Relationship Id="rId11" Target="../media/image166.png" Type="http://schemas.openxmlformats.org/officeDocument/2006/relationships/image"/><Relationship Id="rId12" Target="../media/image167.svg" Type="http://schemas.openxmlformats.org/officeDocument/2006/relationships/image"/><Relationship Id="rId13" Target="../media/image168.png" Type="http://schemas.openxmlformats.org/officeDocument/2006/relationships/image"/><Relationship Id="rId14" Target="../media/image169.svg" Type="http://schemas.openxmlformats.org/officeDocument/2006/relationships/image"/><Relationship Id="rId15" Target="../media/image170.png" Type="http://schemas.openxmlformats.org/officeDocument/2006/relationships/image"/><Relationship Id="rId16" Target="../media/image171.svg" Type="http://schemas.openxmlformats.org/officeDocument/2006/relationships/image"/><Relationship Id="rId17" Target="../media/image172.png" Type="http://schemas.openxmlformats.org/officeDocument/2006/relationships/image"/><Relationship Id="rId18" Target="../media/image173.svg" Type="http://schemas.openxmlformats.org/officeDocument/2006/relationships/image"/><Relationship Id="rId19" Target="../media/image174.png" Type="http://schemas.openxmlformats.org/officeDocument/2006/relationships/image"/><Relationship Id="rId2" Target="../media/image15.png" Type="http://schemas.openxmlformats.org/officeDocument/2006/relationships/image"/><Relationship Id="rId20" Target="../media/image175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62.png" Type="http://schemas.openxmlformats.org/officeDocument/2006/relationships/image"/><Relationship Id="rId8" Target="../media/image163.svg" Type="http://schemas.openxmlformats.org/officeDocument/2006/relationships/image"/><Relationship Id="rId9" Target="../media/image16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9.svg" Type="http://schemas.openxmlformats.org/officeDocument/2006/relationships/image"/><Relationship Id="rId11" Target="../media/image180.png" Type="http://schemas.openxmlformats.org/officeDocument/2006/relationships/image"/><Relationship Id="rId12" Target="../media/image181.svg" Type="http://schemas.openxmlformats.org/officeDocument/2006/relationships/image"/><Relationship Id="rId13" Target="../media/image182.png" Type="http://schemas.openxmlformats.org/officeDocument/2006/relationships/image"/><Relationship Id="rId14" Target="../media/image183.svg" Type="http://schemas.openxmlformats.org/officeDocument/2006/relationships/image"/><Relationship Id="rId15" Target="../media/image184.png" Type="http://schemas.openxmlformats.org/officeDocument/2006/relationships/image"/><Relationship Id="rId16" Target="../media/image185.svg" Type="http://schemas.openxmlformats.org/officeDocument/2006/relationships/image"/><Relationship Id="rId17" Target="../media/image186.png" Type="http://schemas.openxmlformats.org/officeDocument/2006/relationships/image"/><Relationship Id="rId18" Target="../media/image187.svg" Type="http://schemas.openxmlformats.org/officeDocument/2006/relationships/image"/><Relationship Id="rId19" Target="../media/image188.png" Type="http://schemas.openxmlformats.org/officeDocument/2006/relationships/image"/><Relationship Id="rId2" Target="../media/image15.png" Type="http://schemas.openxmlformats.org/officeDocument/2006/relationships/image"/><Relationship Id="rId20" Target="../media/image189.svg" Type="http://schemas.openxmlformats.org/officeDocument/2006/relationships/image"/><Relationship Id="rId21" Target="../media/image190.png" Type="http://schemas.openxmlformats.org/officeDocument/2006/relationships/image"/><Relationship Id="rId22" Target="../media/image191.svg" Type="http://schemas.openxmlformats.org/officeDocument/2006/relationships/image"/><Relationship Id="rId23" Target="../media/image192.png" Type="http://schemas.openxmlformats.org/officeDocument/2006/relationships/image"/><Relationship Id="rId24" Target="../media/image193.svg" Type="http://schemas.openxmlformats.org/officeDocument/2006/relationships/image"/><Relationship Id="rId25" Target="../media/image194.png" Type="http://schemas.openxmlformats.org/officeDocument/2006/relationships/image"/><Relationship Id="rId26" Target="../media/image195.svg" Type="http://schemas.openxmlformats.org/officeDocument/2006/relationships/image"/><Relationship Id="rId27" Target="../media/image196.png" Type="http://schemas.openxmlformats.org/officeDocument/2006/relationships/image"/><Relationship Id="rId28" Target="../media/image197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76.png" Type="http://schemas.openxmlformats.org/officeDocument/2006/relationships/image"/><Relationship Id="rId8" Target="../media/image177.svg" Type="http://schemas.openxmlformats.org/officeDocument/2006/relationships/image"/><Relationship Id="rId9" Target="../media/image17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1.svg" Type="http://schemas.openxmlformats.org/officeDocument/2006/relationships/image"/><Relationship Id="rId11" Target="../media/image202.png" Type="http://schemas.openxmlformats.org/officeDocument/2006/relationships/image"/><Relationship Id="rId12" Target="../media/image203.svg" Type="http://schemas.openxmlformats.org/officeDocument/2006/relationships/image"/><Relationship Id="rId13" Target="../media/image204.png" Type="http://schemas.openxmlformats.org/officeDocument/2006/relationships/image"/><Relationship Id="rId14" Target="../media/image205.svg" Type="http://schemas.openxmlformats.org/officeDocument/2006/relationships/image"/><Relationship Id="rId15" Target="../media/image206.png" Type="http://schemas.openxmlformats.org/officeDocument/2006/relationships/image"/><Relationship Id="rId16" Target="../media/image207.svg" Type="http://schemas.openxmlformats.org/officeDocument/2006/relationships/image"/><Relationship Id="rId17" Target="../media/image208.png" Type="http://schemas.openxmlformats.org/officeDocument/2006/relationships/image"/><Relationship Id="rId18" Target="../media/image209.svg" Type="http://schemas.openxmlformats.org/officeDocument/2006/relationships/image"/><Relationship Id="rId19" Target="../media/image210.png" Type="http://schemas.openxmlformats.org/officeDocument/2006/relationships/image"/><Relationship Id="rId2" Target="../media/image15.png" Type="http://schemas.openxmlformats.org/officeDocument/2006/relationships/image"/><Relationship Id="rId20" Target="../media/image211.svg" Type="http://schemas.openxmlformats.org/officeDocument/2006/relationships/image"/><Relationship Id="rId21" Target="../media/image212.png" Type="http://schemas.openxmlformats.org/officeDocument/2006/relationships/image"/><Relationship Id="rId22" Target="../media/image213.svg" Type="http://schemas.openxmlformats.org/officeDocument/2006/relationships/image"/><Relationship Id="rId23" Target="../media/image214.png" Type="http://schemas.openxmlformats.org/officeDocument/2006/relationships/image"/><Relationship Id="rId24" Target="../media/image215.svg" Type="http://schemas.openxmlformats.org/officeDocument/2006/relationships/image"/><Relationship Id="rId25" Target="../media/image216.svg" Type="http://schemas.openxmlformats.org/officeDocument/2006/relationships/image"/><Relationship Id="rId26" Target="../media/image217.svg" Type="http://schemas.openxmlformats.org/officeDocument/2006/relationships/image"/><Relationship Id="rId27" Target="../media/image218.png" Type="http://schemas.openxmlformats.org/officeDocument/2006/relationships/image"/><Relationship Id="rId28" Target="../media/image219.svg" Type="http://schemas.openxmlformats.org/officeDocument/2006/relationships/image"/><Relationship Id="rId29" Target="../media/image220.png" Type="http://schemas.openxmlformats.org/officeDocument/2006/relationships/image"/><Relationship Id="rId3" Target="../media/image16.svg" Type="http://schemas.openxmlformats.org/officeDocument/2006/relationships/image"/><Relationship Id="rId30" Target="../media/image221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98.png" Type="http://schemas.openxmlformats.org/officeDocument/2006/relationships/image"/><Relationship Id="rId8" Target="../media/image199.svg" Type="http://schemas.openxmlformats.org/officeDocument/2006/relationships/image"/><Relationship Id="rId9" Target="../media/image20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5.svg" Type="http://schemas.openxmlformats.org/officeDocument/2006/relationships/image"/><Relationship Id="rId11" Target="../media/image226.png" Type="http://schemas.openxmlformats.org/officeDocument/2006/relationships/image"/><Relationship Id="rId12" Target="../media/image227.svg" Type="http://schemas.openxmlformats.org/officeDocument/2006/relationships/image"/><Relationship Id="rId13" Target="../media/image228.png" Type="http://schemas.openxmlformats.org/officeDocument/2006/relationships/image"/><Relationship Id="rId14" Target="../media/image229.svg" Type="http://schemas.openxmlformats.org/officeDocument/2006/relationships/image"/><Relationship Id="rId15" Target="../media/image230.png" Type="http://schemas.openxmlformats.org/officeDocument/2006/relationships/image"/><Relationship Id="rId16" Target="../media/image231.svg" Type="http://schemas.openxmlformats.org/officeDocument/2006/relationships/image"/><Relationship Id="rId17" Target="../media/image232.png" Type="http://schemas.openxmlformats.org/officeDocument/2006/relationships/image"/><Relationship Id="rId18" Target="../media/image233.svg" Type="http://schemas.openxmlformats.org/officeDocument/2006/relationships/image"/><Relationship Id="rId19" Target="../media/image234.png" Type="http://schemas.openxmlformats.org/officeDocument/2006/relationships/image"/><Relationship Id="rId2" Target="../media/image15.png" Type="http://schemas.openxmlformats.org/officeDocument/2006/relationships/image"/><Relationship Id="rId20" Target="../media/image235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22.png" Type="http://schemas.openxmlformats.org/officeDocument/2006/relationships/image"/><Relationship Id="rId8" Target="../media/image223.svg" Type="http://schemas.openxmlformats.org/officeDocument/2006/relationships/image"/><Relationship Id="rId9" Target="../media/image2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9.svg" Type="http://schemas.openxmlformats.org/officeDocument/2006/relationships/image"/><Relationship Id="rId11" Target="../media/image240.png" Type="http://schemas.openxmlformats.org/officeDocument/2006/relationships/image"/><Relationship Id="rId12" Target="../media/image241.svg" Type="http://schemas.openxmlformats.org/officeDocument/2006/relationships/image"/><Relationship Id="rId13" Target="../media/image242.png" Type="http://schemas.openxmlformats.org/officeDocument/2006/relationships/image"/><Relationship Id="rId14" Target="../media/image243.svg" Type="http://schemas.openxmlformats.org/officeDocument/2006/relationships/image"/><Relationship Id="rId15" Target="../media/image244.png" Type="http://schemas.openxmlformats.org/officeDocument/2006/relationships/image"/><Relationship Id="rId16" Target="../media/image245.svg" Type="http://schemas.openxmlformats.org/officeDocument/2006/relationships/image"/><Relationship Id="rId17" Target="../media/image246.png" Type="http://schemas.openxmlformats.org/officeDocument/2006/relationships/image"/><Relationship Id="rId18" Target="../media/image247.svg" Type="http://schemas.openxmlformats.org/officeDocument/2006/relationships/image"/><Relationship Id="rId19" Target="../media/image248.png" Type="http://schemas.openxmlformats.org/officeDocument/2006/relationships/image"/><Relationship Id="rId2" Target="../media/image15.png" Type="http://schemas.openxmlformats.org/officeDocument/2006/relationships/image"/><Relationship Id="rId20" Target="../media/image249.svg" Type="http://schemas.openxmlformats.org/officeDocument/2006/relationships/image"/><Relationship Id="rId21" Target="../media/image250.png" Type="http://schemas.openxmlformats.org/officeDocument/2006/relationships/image"/><Relationship Id="rId22" Target="../media/image251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36.png" Type="http://schemas.openxmlformats.org/officeDocument/2006/relationships/image"/><Relationship Id="rId8" Target="../media/image237.svg" Type="http://schemas.openxmlformats.org/officeDocument/2006/relationships/image"/><Relationship Id="rId9" Target="../media/image2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5.svg" Type="http://schemas.openxmlformats.org/officeDocument/2006/relationships/image"/><Relationship Id="rId11" Target="../media/image256.png" Type="http://schemas.openxmlformats.org/officeDocument/2006/relationships/image"/><Relationship Id="rId12" Target="../media/image257.svg" Type="http://schemas.openxmlformats.org/officeDocument/2006/relationships/image"/><Relationship Id="rId13" Target="../media/image258.png" Type="http://schemas.openxmlformats.org/officeDocument/2006/relationships/image"/><Relationship Id="rId14" Target="../media/image259.svg" Type="http://schemas.openxmlformats.org/officeDocument/2006/relationships/image"/><Relationship Id="rId15" Target="../media/image260.png" Type="http://schemas.openxmlformats.org/officeDocument/2006/relationships/image"/><Relationship Id="rId16" Target="../media/image261.svg" Type="http://schemas.openxmlformats.org/officeDocument/2006/relationships/image"/><Relationship Id="rId17" Target="../media/image262.png" Type="http://schemas.openxmlformats.org/officeDocument/2006/relationships/image"/><Relationship Id="rId18" Target="../media/image26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52.png" Type="http://schemas.openxmlformats.org/officeDocument/2006/relationships/image"/><Relationship Id="rId8" Target="../media/image253.svg" Type="http://schemas.openxmlformats.org/officeDocument/2006/relationships/image"/><Relationship Id="rId9" Target="../media/image25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0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3.jpe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4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5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6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7.jpe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66.png" Type="http://schemas.openxmlformats.org/officeDocument/2006/relationships/image"/><Relationship Id="rId5" Target="../media/image267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8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3.png" Type="http://schemas.openxmlformats.org/officeDocument/2006/relationships/image"/><Relationship Id="rId11" Target="../media/image284.svg" Type="http://schemas.openxmlformats.org/officeDocument/2006/relationships/image"/><Relationship Id="rId12" Target="../media/image285.png" Type="http://schemas.openxmlformats.org/officeDocument/2006/relationships/image"/><Relationship Id="rId13" Target="../media/image286.png" Type="http://schemas.openxmlformats.org/officeDocument/2006/relationships/image"/><Relationship Id="rId14" Target="../media/image287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64.png" Type="http://schemas.openxmlformats.org/officeDocument/2006/relationships/image"/><Relationship Id="rId5" Target="../media/image265.svg" Type="http://schemas.openxmlformats.org/officeDocument/2006/relationships/image"/><Relationship Id="rId6" Target="../media/image279.png" Type="http://schemas.openxmlformats.org/officeDocument/2006/relationships/image"/><Relationship Id="rId7" Target="../media/image280.svg" Type="http://schemas.openxmlformats.org/officeDocument/2006/relationships/image"/><Relationship Id="rId8" Target="../media/image281.png" Type="http://schemas.openxmlformats.org/officeDocument/2006/relationships/image"/><Relationship Id="rId9" Target="../media/image28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3.png" Type="http://schemas.openxmlformats.org/officeDocument/2006/relationships/image"/><Relationship Id="rId11" Target="../media/image284.svg" Type="http://schemas.openxmlformats.org/officeDocument/2006/relationships/image"/><Relationship Id="rId12" Target="../media/image288.png" Type="http://schemas.openxmlformats.org/officeDocument/2006/relationships/image"/><Relationship Id="rId13" Target="../media/image286.png" Type="http://schemas.openxmlformats.org/officeDocument/2006/relationships/image"/><Relationship Id="rId14" Target="../media/image287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64.png" Type="http://schemas.openxmlformats.org/officeDocument/2006/relationships/image"/><Relationship Id="rId5" Target="../media/image265.svg" Type="http://schemas.openxmlformats.org/officeDocument/2006/relationships/image"/><Relationship Id="rId6" Target="../media/image279.png" Type="http://schemas.openxmlformats.org/officeDocument/2006/relationships/image"/><Relationship Id="rId7" Target="../media/image280.svg" Type="http://schemas.openxmlformats.org/officeDocument/2006/relationships/image"/><Relationship Id="rId8" Target="../media/image281.png" Type="http://schemas.openxmlformats.org/officeDocument/2006/relationships/image"/><Relationship Id="rId9" Target="../media/image28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9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0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1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2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3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4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5.pn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6.jpe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7.jpeg" Type="http://schemas.openxmlformats.org/officeDocument/2006/relationships/image"/><Relationship Id="rId11" Target="../media/image286.png" Type="http://schemas.openxmlformats.org/officeDocument/2006/relationships/image"/><Relationship Id="rId12" Target="../media/image287.svg" Type="http://schemas.openxmlformats.org/officeDocument/2006/relationships/image"/><Relationship Id="rId2" Target="../media/image264.png" Type="http://schemas.openxmlformats.org/officeDocument/2006/relationships/image"/><Relationship Id="rId3" Target="../media/image265.svg" Type="http://schemas.openxmlformats.org/officeDocument/2006/relationships/image"/><Relationship Id="rId4" Target="../media/image279.png" Type="http://schemas.openxmlformats.org/officeDocument/2006/relationships/image"/><Relationship Id="rId5" Target="../media/image280.svg" Type="http://schemas.openxmlformats.org/officeDocument/2006/relationships/image"/><Relationship Id="rId6" Target="../media/image281.png" Type="http://schemas.openxmlformats.org/officeDocument/2006/relationships/image"/><Relationship Id="rId7" Target="../media/image282.svg" Type="http://schemas.openxmlformats.org/officeDocument/2006/relationships/image"/><Relationship Id="rId8" Target="../media/image283.png" Type="http://schemas.openxmlformats.org/officeDocument/2006/relationships/image"/><Relationship Id="rId9" Target="../media/image284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1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98.png" Type="http://schemas.openxmlformats.org/officeDocument/2006/relationships/image"/><Relationship Id="rId8" Target="../media/image299.svg" Type="http://schemas.openxmlformats.org/officeDocument/2006/relationships/image"/><Relationship Id="rId9" Target="../media/image30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5.svg" Type="http://schemas.openxmlformats.org/officeDocument/2006/relationships/image"/><Relationship Id="rId11" Target="../media/image306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02.png" Type="http://schemas.openxmlformats.org/officeDocument/2006/relationships/image"/><Relationship Id="rId8" Target="../media/image303.svg" Type="http://schemas.openxmlformats.org/officeDocument/2006/relationships/image"/><Relationship Id="rId9" Target="../media/image30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0.svg" Type="http://schemas.openxmlformats.org/officeDocument/2006/relationships/image"/><Relationship Id="rId11" Target="../media/image311.png" Type="http://schemas.openxmlformats.org/officeDocument/2006/relationships/image"/><Relationship Id="rId12" Target="../media/image312.svg" Type="http://schemas.openxmlformats.org/officeDocument/2006/relationships/image"/><Relationship Id="rId13" Target="../media/image313.png" Type="http://schemas.openxmlformats.org/officeDocument/2006/relationships/image"/><Relationship Id="rId14" Target="../media/image314.svg" Type="http://schemas.openxmlformats.org/officeDocument/2006/relationships/image"/><Relationship Id="rId15" Target="../media/image315.png" Type="http://schemas.openxmlformats.org/officeDocument/2006/relationships/image"/><Relationship Id="rId16" Target="../media/image316.svg" Type="http://schemas.openxmlformats.org/officeDocument/2006/relationships/image"/><Relationship Id="rId17" Target="../media/image317.png" Type="http://schemas.openxmlformats.org/officeDocument/2006/relationships/image"/><Relationship Id="rId18" Target="../media/image31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07.png" Type="http://schemas.openxmlformats.org/officeDocument/2006/relationships/image"/><Relationship Id="rId8" Target="../media/image308.svg" Type="http://schemas.openxmlformats.org/officeDocument/2006/relationships/image"/><Relationship Id="rId9" Target="../media/image30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2.svg" Type="http://schemas.openxmlformats.org/officeDocument/2006/relationships/image"/><Relationship Id="rId11" Target="../media/image323.png" Type="http://schemas.openxmlformats.org/officeDocument/2006/relationships/image"/><Relationship Id="rId12" Target="../media/image324.svg" Type="http://schemas.openxmlformats.org/officeDocument/2006/relationships/image"/><Relationship Id="rId13" Target="../media/image325.png" Type="http://schemas.openxmlformats.org/officeDocument/2006/relationships/image"/><Relationship Id="rId14" Target="../media/image326.svg" Type="http://schemas.openxmlformats.org/officeDocument/2006/relationships/image"/><Relationship Id="rId15" Target="../media/image327.png" Type="http://schemas.openxmlformats.org/officeDocument/2006/relationships/image"/><Relationship Id="rId16" Target="../media/image328.svg" Type="http://schemas.openxmlformats.org/officeDocument/2006/relationships/image"/><Relationship Id="rId17" Target="../media/image329.png" Type="http://schemas.openxmlformats.org/officeDocument/2006/relationships/image"/><Relationship Id="rId18" Target="../media/image330.svg" Type="http://schemas.openxmlformats.org/officeDocument/2006/relationships/image"/><Relationship Id="rId19" Target="../media/image331.png" Type="http://schemas.openxmlformats.org/officeDocument/2006/relationships/image"/><Relationship Id="rId2" Target="../media/image15.png" Type="http://schemas.openxmlformats.org/officeDocument/2006/relationships/image"/><Relationship Id="rId20" Target="../media/image332.sv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19.png" Type="http://schemas.openxmlformats.org/officeDocument/2006/relationships/image"/><Relationship Id="rId8" Target="../media/image320.svg" Type="http://schemas.openxmlformats.org/officeDocument/2006/relationships/image"/><Relationship Id="rId9" Target="../media/image321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3.png" Type="http://schemas.openxmlformats.org/officeDocument/2006/relationships/image"/><Relationship Id="rId3" Target="../media/image334.svg" Type="http://schemas.openxmlformats.org/officeDocument/2006/relationships/image"/><Relationship Id="rId4" Target="../media/image335.png" Type="http://schemas.openxmlformats.org/officeDocument/2006/relationships/image"/><Relationship Id="rId5" Target="../media/image336.svg" Type="http://schemas.openxmlformats.org/officeDocument/2006/relationships/image"/><Relationship Id="rId6" Target="../media/image337.png" Type="http://schemas.openxmlformats.org/officeDocument/2006/relationships/image"/><Relationship Id="rId7" Target="../media/image338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39.png" Type="http://schemas.openxmlformats.org/officeDocument/2006/relationships/image"/><Relationship Id="rId5" Target="../media/image340.svg" Type="http://schemas.openxmlformats.org/officeDocument/2006/relationships/image"/><Relationship Id="rId6" Target="../media/image341.png" Type="http://schemas.openxmlformats.org/officeDocument/2006/relationships/image"/><Relationship Id="rId7" Target="../media/image342.svg" Type="http://schemas.openxmlformats.org/officeDocument/2006/relationships/image"/><Relationship Id="rId8" Target="../media/image343.png" Type="http://schemas.openxmlformats.org/officeDocument/2006/relationships/image"/><Relationship Id="rId9" Target="../media/image34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E9F0F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015597" y="2894961"/>
            <a:ext cx="6680751" cy="4473656"/>
          </a:xfrm>
          <a:custGeom>
            <a:avLst/>
            <a:gdLst/>
            <a:ahLst/>
            <a:cxnLst/>
            <a:rect r="r" b="b" t="t" l="l"/>
            <a:pathLst>
              <a:path h="4473656" w="6680751">
                <a:moveTo>
                  <a:pt x="0" y="0"/>
                </a:moveTo>
                <a:lnTo>
                  <a:pt x="6680751" y="0"/>
                </a:lnTo>
                <a:lnTo>
                  <a:pt x="6680751" y="4473655"/>
                </a:lnTo>
                <a:lnTo>
                  <a:pt x="0" y="44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26751" y="1560127"/>
            <a:ext cx="11004477" cy="6844839"/>
          </a:xfrm>
          <a:custGeom>
            <a:avLst/>
            <a:gdLst/>
            <a:ahLst/>
            <a:cxnLst/>
            <a:rect r="r" b="b" t="t" l="l"/>
            <a:pathLst>
              <a:path h="6844839" w="11004477">
                <a:moveTo>
                  <a:pt x="0" y="0"/>
                </a:moveTo>
                <a:lnTo>
                  <a:pt x="11004477" y="0"/>
                </a:lnTo>
                <a:lnTo>
                  <a:pt x="11004477" y="6844839"/>
                </a:lnTo>
                <a:lnTo>
                  <a:pt x="0" y="6844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982" y="-9982"/>
            <a:ext cx="18306898" cy="10305898"/>
          </a:xfrm>
          <a:custGeom>
            <a:avLst/>
            <a:gdLst/>
            <a:ahLst/>
            <a:cxnLst/>
            <a:rect r="r" b="b" t="t" l="l"/>
            <a:pathLst>
              <a:path h="10305898" w="18306898">
                <a:moveTo>
                  <a:pt x="0" y="0"/>
                </a:moveTo>
                <a:lnTo>
                  <a:pt x="18306897" y="0"/>
                </a:lnTo>
                <a:lnTo>
                  <a:pt x="18306897" y="10305897"/>
                </a:lnTo>
                <a:lnTo>
                  <a:pt x="0" y="10305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 descr="$PPTXTitle"/>
          <p:cNvSpPr txBox="true"/>
          <p:nvPr/>
        </p:nvSpPr>
        <p:spPr>
          <a:xfrm rot="0">
            <a:off x="460477" y="1319052"/>
            <a:ext cx="491228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9"/>
              </a:lnSpc>
            </a:pPr>
            <a:r>
              <a:rPr lang="en-US" b="true" sz="6449" spc="-27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ELASTIC THREATOPS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909" y="3615039"/>
            <a:ext cx="33027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spc="-120">
                <a:solidFill>
                  <a:srgbClr val="D4E4F1"/>
                </a:solidFill>
                <a:latin typeface="Arial Bold"/>
                <a:ea typeface="Arial Bold"/>
                <a:cs typeface="Arial Bold"/>
                <a:sym typeface="Arial Bold"/>
              </a:rPr>
              <a:t>Hybrid Enterprise SOC Lab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0068" y="4251853"/>
            <a:ext cx="425689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9"/>
              </a:lnSpc>
            </a:pPr>
            <a:r>
              <a:rPr lang="en-US" sz="1849" spc="-14">
                <a:solidFill>
                  <a:srgbClr val="C2D4E5"/>
                </a:solidFill>
                <a:latin typeface="Arial"/>
                <a:ea typeface="Arial"/>
                <a:cs typeface="Arial"/>
                <a:sym typeface="Arial"/>
              </a:rPr>
              <a:t>Cloud + On-Premise Security Monitoring, Detection and Threat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0068" y="5503060"/>
            <a:ext cx="198215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-12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0068" y="5939675"/>
            <a:ext cx="488982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 spc="-21">
                <a:solidFill>
                  <a:srgbClr val="C2D4E5"/>
                </a:solidFill>
                <a:latin typeface="Arial"/>
                <a:ea typeface="Arial"/>
                <a:cs typeface="Arial"/>
                <a:sym typeface="Arial"/>
              </a:rPr>
              <a:t>Kaushal Kamde - 260240123025</a:t>
            </a:r>
          </a:p>
          <a:p>
            <a:pPr algn="l">
              <a:lnSpc>
                <a:spcPts val="2609"/>
              </a:lnSpc>
            </a:pPr>
            <a:r>
              <a:rPr lang="en-US" sz="2174" spc="-21">
                <a:solidFill>
                  <a:srgbClr val="C2D4E5"/>
                </a:solidFill>
                <a:latin typeface="Arial"/>
                <a:ea typeface="Arial"/>
                <a:cs typeface="Arial"/>
                <a:sym typeface="Arial"/>
              </a:rPr>
              <a:t>Khem Kumar Rathore - 260240123026</a:t>
            </a:r>
          </a:p>
          <a:p>
            <a:pPr algn="l">
              <a:lnSpc>
                <a:spcPts val="2609"/>
              </a:lnSpc>
            </a:pPr>
            <a:r>
              <a:rPr lang="en-US" sz="2174" spc="-23">
                <a:solidFill>
                  <a:srgbClr val="C2D4E5"/>
                </a:solidFill>
                <a:latin typeface="Arial"/>
                <a:ea typeface="Arial"/>
                <a:cs typeface="Arial"/>
                <a:sym typeface="Arial"/>
              </a:rPr>
              <a:t>Prajakta S. Patil - 260240123034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8627" y="1852718"/>
            <a:ext cx="170028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b="true" sz="2502" spc="-114">
                <a:solidFill>
                  <a:srgbClr val="16202A"/>
                </a:solidFill>
                <a:latin typeface="Arial Bold"/>
                <a:ea typeface="Arial Bold"/>
                <a:cs typeface="Arial Bold"/>
                <a:sym typeface="Arial Bold"/>
              </a:rPr>
              <a:t>AWS Cloud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5029" y="2599686"/>
            <a:ext cx="210748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68" spc="-4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CloudTrail • S3 • SQS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52968" y="1224517"/>
            <a:ext cx="3894541" cy="1713071"/>
          </a:xfrm>
          <a:custGeom>
            <a:avLst/>
            <a:gdLst/>
            <a:ahLst/>
            <a:cxnLst/>
            <a:rect r="r" b="b" t="t" l="l"/>
            <a:pathLst>
              <a:path h="1713071" w="3894541">
                <a:moveTo>
                  <a:pt x="0" y="0"/>
                </a:moveTo>
                <a:lnTo>
                  <a:pt x="3894541" y="0"/>
                </a:lnTo>
                <a:lnTo>
                  <a:pt x="3894541" y="1713071"/>
                </a:lnTo>
                <a:lnTo>
                  <a:pt x="0" y="171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260521" y="1517107"/>
            <a:ext cx="12783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b="true" sz="2502" spc="-104">
                <a:solidFill>
                  <a:srgbClr val="16202A"/>
                </a:solidFill>
                <a:latin typeface="Arial Bold"/>
                <a:ea typeface="Arial Bold"/>
                <a:cs typeface="Arial Bold"/>
                <a:sym typeface="Arial Bold"/>
              </a:rPr>
              <a:t>On-Prem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4948" y="2244134"/>
            <a:ext cx="237058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68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AD • Linux • Web • IDS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20443" y="4161763"/>
            <a:ext cx="3978443" cy="1796962"/>
          </a:xfrm>
          <a:custGeom>
            <a:avLst/>
            <a:gdLst/>
            <a:ahLst/>
            <a:cxnLst/>
            <a:rect r="r" b="b" t="t" l="l"/>
            <a:pathLst>
              <a:path h="1796962" w="3978443">
                <a:moveTo>
                  <a:pt x="0" y="0"/>
                </a:moveTo>
                <a:lnTo>
                  <a:pt x="3978444" y="0"/>
                </a:lnTo>
                <a:lnTo>
                  <a:pt x="3978444" y="1796962"/>
                </a:lnTo>
                <a:lnTo>
                  <a:pt x="0" y="1796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92889" y="4453701"/>
            <a:ext cx="138076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b="true" sz="2502" spc="-145">
                <a:solidFill>
                  <a:srgbClr val="16202A"/>
                </a:solidFill>
                <a:latin typeface="Arial Bold"/>
                <a:ea typeface="Arial Bold"/>
                <a:cs typeface="Arial Bold"/>
                <a:sym typeface="Arial Bold"/>
              </a:rPr>
              <a:t>SOC-Core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3275" y="5273373"/>
            <a:ext cx="25327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68" spc="-2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• Kafka • Logstash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728589" y="4245013"/>
            <a:ext cx="3223319" cy="1713071"/>
          </a:xfrm>
          <a:custGeom>
            <a:avLst/>
            <a:gdLst/>
            <a:ahLst/>
            <a:cxnLst/>
            <a:rect r="r" b="b" t="t" l="l"/>
            <a:pathLst>
              <a:path h="1713071" w="3223319">
                <a:moveTo>
                  <a:pt x="0" y="0"/>
                </a:moveTo>
                <a:lnTo>
                  <a:pt x="3223319" y="0"/>
                </a:lnTo>
                <a:lnTo>
                  <a:pt x="3223319" y="1713071"/>
                </a:lnTo>
                <a:lnTo>
                  <a:pt x="0" y="17130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966130" y="4537603"/>
            <a:ext cx="7481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b="true" sz="2502" spc="-156">
                <a:solidFill>
                  <a:srgbClr val="16202A"/>
                </a:solidFill>
                <a:latin typeface="Arial Bold"/>
                <a:ea typeface="Arial Bold"/>
                <a:cs typeface="Arial Bold"/>
                <a:sym typeface="Arial Bold"/>
              </a:rPr>
              <a:t>MISP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52347" y="5277088"/>
            <a:ext cx="197580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68" spc="-2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Threat Intelligence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198497" y="7349412"/>
            <a:ext cx="4314054" cy="1713071"/>
          </a:xfrm>
          <a:custGeom>
            <a:avLst/>
            <a:gdLst/>
            <a:ahLst/>
            <a:cxnLst/>
            <a:rect r="r" b="b" t="t" l="l"/>
            <a:pathLst>
              <a:path h="1713071" w="4314054">
                <a:moveTo>
                  <a:pt x="0" y="0"/>
                </a:moveTo>
                <a:lnTo>
                  <a:pt x="4314054" y="0"/>
                </a:lnTo>
                <a:lnTo>
                  <a:pt x="4314054" y="1713071"/>
                </a:lnTo>
                <a:lnTo>
                  <a:pt x="0" y="17130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106370" y="7642002"/>
            <a:ext cx="250076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b="true" sz="2502" spc="-20">
                <a:solidFill>
                  <a:srgbClr val="16202A"/>
                </a:solidFill>
                <a:latin typeface="Arial Bold"/>
                <a:ea typeface="Arial Bold"/>
                <a:cs typeface="Arial Bold"/>
                <a:sym typeface="Arial Bold"/>
              </a:rPr>
              <a:t>Kibana Security</a:t>
            </a:r>
          </a:p>
          <a:p>
            <a:pPr algn="l">
              <a:lnSpc>
                <a:spcPts val="1761"/>
              </a:lnSpc>
            </a:pPr>
          </a:p>
          <a:p>
            <a:pPr algn="ctr">
              <a:lnSpc>
                <a:spcPts val="2121"/>
              </a:lnSpc>
            </a:pPr>
            <a:r>
              <a:rPr lang="en-US" sz="1768" spc="-2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Rules • Alerts • Dashboards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0068" y="7446740"/>
            <a:ext cx="198215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-12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Guided by: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0068" y="7900141"/>
            <a:ext cx="488982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 spc="-23">
                <a:solidFill>
                  <a:srgbClr val="C2D4E5"/>
                </a:solidFill>
                <a:latin typeface="Arial"/>
                <a:ea typeface="Arial"/>
                <a:cs typeface="Arial"/>
                <a:sym typeface="Arial"/>
              </a:rPr>
              <a:t>Mr. Raja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492833"/>
            <a:ext cx="439519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87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Presentation Roadmap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7864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 guided walkthrough from problem to validated security outcomes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37401" y="582082"/>
            <a:ext cx="83629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05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25791" y="1980724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256" y="2141077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9297" y="2142144"/>
            <a:ext cx="244125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0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Problem &amp; 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06997" y="2178339"/>
            <a:ext cx="283940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Why a hybrid SOC was required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25791" y="3105531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17256" y="3265884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49297" y="3266970"/>
            <a:ext cx="14658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0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6997" y="3303165"/>
            <a:ext cx="27165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Network, identity and log flow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25791" y="4230357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7256" y="4390711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9297" y="4391244"/>
            <a:ext cx="190690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06997" y="4427992"/>
            <a:ext cx="313753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Elastic, AD, MISP, Suricata and AWS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25791" y="5354631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7256" y="5515537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49297" y="5516070"/>
            <a:ext cx="23631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Detection 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6997" y="5552799"/>
            <a:ext cx="23479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Rules, alerts and evidence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25791" y="6479457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7"/>
                </a:lnTo>
                <a:lnTo>
                  <a:pt x="0" y="811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17256" y="6639811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49297" y="6640897"/>
            <a:ext cx="19088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8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Troubleshooting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06997" y="6677092"/>
            <a:ext cx="25717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Issues, root causes and fixes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25791" y="7604284"/>
            <a:ext cx="15789469" cy="811406"/>
          </a:xfrm>
          <a:custGeom>
            <a:avLst/>
            <a:gdLst/>
            <a:ahLst/>
            <a:cxnLst/>
            <a:rect r="r" b="b" t="t" l="l"/>
            <a:pathLst>
              <a:path h="811406" w="15789469">
                <a:moveTo>
                  <a:pt x="0" y="0"/>
                </a:moveTo>
                <a:lnTo>
                  <a:pt x="15789469" y="0"/>
                </a:lnTo>
                <a:lnTo>
                  <a:pt x="15789469" y="811406"/>
                </a:lnTo>
                <a:lnTo>
                  <a:pt x="0" y="811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17256" y="7764637"/>
            <a:ext cx="3000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4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49297" y="7765704"/>
            <a:ext cx="150876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8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06997" y="7801899"/>
            <a:ext cx="30089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Hardening, automation and scale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73402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79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361283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The operational gap the project addresses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68186" y="582082"/>
            <a:ext cx="77533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05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2091" y="1842211"/>
            <a:ext cx="5299558" cy="2967838"/>
          </a:xfrm>
          <a:custGeom>
            <a:avLst/>
            <a:gdLst/>
            <a:ahLst/>
            <a:cxnLst/>
            <a:rect r="r" b="b" t="t" l="l"/>
            <a:pathLst>
              <a:path h="2967838" w="5299558">
                <a:moveTo>
                  <a:pt x="0" y="0"/>
                </a:moveTo>
                <a:lnTo>
                  <a:pt x="5299558" y="0"/>
                </a:lnTo>
                <a:lnTo>
                  <a:pt x="5299558" y="2967838"/>
                </a:lnTo>
                <a:lnTo>
                  <a:pt x="0" y="29678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3804" y="2116236"/>
            <a:ext cx="4728210" cy="129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Fragmented visibility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Logs were generated across cloud, Linux, Windows, web applications and network sensors, but there was no unified monitoring layer.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505651" y="1842211"/>
            <a:ext cx="5299558" cy="2967838"/>
          </a:xfrm>
          <a:custGeom>
            <a:avLst/>
            <a:gdLst/>
            <a:ahLst/>
            <a:cxnLst/>
            <a:rect r="r" b="b" t="t" l="l"/>
            <a:pathLst>
              <a:path h="2967838" w="5299558">
                <a:moveTo>
                  <a:pt x="0" y="0"/>
                </a:moveTo>
                <a:lnTo>
                  <a:pt x="5299558" y="0"/>
                </a:lnTo>
                <a:lnTo>
                  <a:pt x="5299558" y="2967838"/>
                </a:lnTo>
                <a:lnTo>
                  <a:pt x="0" y="29678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97364" y="2116236"/>
            <a:ext cx="4511992" cy="129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Hybrid connectivity constraints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On-premise systems and AWS resources had to communicate securely despite enterprise firewall restrictions on standard VPN traffic.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129211" y="1842211"/>
            <a:ext cx="5299558" cy="2967838"/>
          </a:xfrm>
          <a:custGeom>
            <a:avLst/>
            <a:gdLst/>
            <a:ahLst/>
            <a:cxnLst/>
            <a:rect r="r" b="b" t="t" l="l"/>
            <a:pathLst>
              <a:path h="2967838" w="5299558">
                <a:moveTo>
                  <a:pt x="0" y="0"/>
                </a:moveTo>
                <a:lnTo>
                  <a:pt x="5299558" y="0"/>
                </a:lnTo>
                <a:lnTo>
                  <a:pt x="5299558" y="2967838"/>
                </a:lnTo>
                <a:lnTo>
                  <a:pt x="0" y="29678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20924" y="2116236"/>
            <a:ext cx="4758690" cy="129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Manual threat analysis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Raw events lacked consistent parsing, enrichment, correlation and alerting, making investigations slow and error-prone.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62151" y="5682691"/>
            <a:ext cx="15586558" cy="2144878"/>
          </a:xfrm>
          <a:custGeom>
            <a:avLst/>
            <a:gdLst/>
            <a:ahLst/>
            <a:cxnLst/>
            <a:rect r="r" b="b" t="t" l="l"/>
            <a:pathLst>
              <a:path h="2144878" w="15586558">
                <a:moveTo>
                  <a:pt x="0" y="0"/>
                </a:moveTo>
                <a:lnTo>
                  <a:pt x="15586558" y="0"/>
                </a:lnTo>
                <a:lnTo>
                  <a:pt x="15586558" y="2144878"/>
                </a:lnTo>
                <a:lnTo>
                  <a:pt x="0" y="21448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51456" y="6440805"/>
            <a:ext cx="22250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60">
                <a:solidFill>
                  <a:srgbClr val="A8C6DC"/>
                </a:solidFill>
                <a:latin typeface="Arial"/>
                <a:ea typeface="Arial"/>
                <a:cs typeface="Arial"/>
                <a:sym typeface="Arial"/>
              </a:rPr>
              <a:t>Core requirement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07706" y="6256020"/>
            <a:ext cx="1146048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1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a cost-conscious, production-inspired SOC platform that securely collects hybrid telemetry, enriches it with threat intelligence, stores it reliably, and generates actionable alerts in Kibana.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801798" y="8425891"/>
            <a:ext cx="1664818" cy="458000"/>
          </a:xfrm>
          <a:custGeom>
            <a:avLst/>
            <a:gdLst/>
            <a:ahLst/>
            <a:cxnLst/>
            <a:rect r="r" b="b" t="t" l="l"/>
            <a:pathLst>
              <a:path h="458000" w="1664818">
                <a:moveTo>
                  <a:pt x="0" y="0"/>
                </a:moveTo>
                <a:lnTo>
                  <a:pt x="1664817" y="0"/>
                </a:lnTo>
                <a:lnTo>
                  <a:pt x="166481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96996" y="8505854"/>
            <a:ext cx="47339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74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722038" y="8425891"/>
            <a:ext cx="1664818" cy="458000"/>
          </a:xfrm>
          <a:custGeom>
            <a:avLst/>
            <a:gdLst/>
            <a:ahLst/>
            <a:cxnLst/>
            <a:rect r="r" b="b" t="t" l="l"/>
            <a:pathLst>
              <a:path h="458000" w="1664818">
                <a:moveTo>
                  <a:pt x="0" y="0"/>
                </a:moveTo>
                <a:lnTo>
                  <a:pt x="1664817" y="0"/>
                </a:lnTo>
                <a:lnTo>
                  <a:pt x="166481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200059" y="8505854"/>
            <a:ext cx="7086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56">
                <a:solidFill>
                  <a:srgbClr val="1B8B8B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642278" y="8425891"/>
            <a:ext cx="1664818" cy="458000"/>
          </a:xfrm>
          <a:custGeom>
            <a:avLst/>
            <a:gdLst/>
            <a:ahLst/>
            <a:cxnLst/>
            <a:rect r="r" b="b" t="t" l="l"/>
            <a:pathLst>
              <a:path h="458000" w="1664818">
                <a:moveTo>
                  <a:pt x="0" y="0"/>
                </a:moveTo>
                <a:lnTo>
                  <a:pt x="1664817" y="0"/>
                </a:lnTo>
                <a:lnTo>
                  <a:pt x="166481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111651" y="8505854"/>
            <a:ext cx="7258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65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562518" y="8425891"/>
            <a:ext cx="1664818" cy="458000"/>
          </a:xfrm>
          <a:custGeom>
            <a:avLst/>
            <a:gdLst/>
            <a:ahLst/>
            <a:cxnLst/>
            <a:rect r="r" b="b" t="t" l="l"/>
            <a:pathLst>
              <a:path h="458000" w="1664818">
                <a:moveTo>
                  <a:pt x="0" y="0"/>
                </a:moveTo>
                <a:lnTo>
                  <a:pt x="1664817" y="0"/>
                </a:lnTo>
                <a:lnTo>
                  <a:pt x="166481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069153" y="8505854"/>
            <a:ext cx="65055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37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482758" y="8425891"/>
            <a:ext cx="1939138" cy="458000"/>
          </a:xfrm>
          <a:custGeom>
            <a:avLst/>
            <a:gdLst/>
            <a:ahLst/>
            <a:cxnLst/>
            <a:rect r="r" b="b" t="t" l="l"/>
            <a:pathLst>
              <a:path h="458000" w="1939138">
                <a:moveTo>
                  <a:pt x="0" y="0"/>
                </a:moveTo>
                <a:lnTo>
                  <a:pt x="1939137" y="0"/>
                </a:lnTo>
                <a:lnTo>
                  <a:pt x="193913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979125" y="8505854"/>
            <a:ext cx="9448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93">
                <a:solidFill>
                  <a:srgbClr val="C14039"/>
                </a:solidFill>
                <a:latin typeface="Arial"/>
                <a:ea typeface="Arial"/>
                <a:cs typeface="Arial"/>
                <a:sym typeface="Arial"/>
              </a:rPr>
              <a:t>Threat Intel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677318" y="8425891"/>
            <a:ext cx="1939138" cy="458000"/>
          </a:xfrm>
          <a:custGeom>
            <a:avLst/>
            <a:gdLst/>
            <a:ahLst/>
            <a:cxnLst/>
            <a:rect r="r" b="b" t="t" l="l"/>
            <a:pathLst>
              <a:path h="458000" w="1939138">
                <a:moveTo>
                  <a:pt x="0" y="0"/>
                </a:moveTo>
                <a:lnTo>
                  <a:pt x="1939137" y="0"/>
                </a:lnTo>
                <a:lnTo>
                  <a:pt x="1939137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254152" y="8505854"/>
            <a:ext cx="7848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74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82927"/>
            <a:ext cx="100288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949" spc="-16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64546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 layered security architecture with clear ownership at every stage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36335" y="582082"/>
            <a:ext cx="8382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87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1558" y="2115445"/>
            <a:ext cx="2927833" cy="5369090"/>
          </a:xfrm>
          <a:custGeom>
            <a:avLst/>
            <a:gdLst/>
            <a:ahLst/>
            <a:cxnLst/>
            <a:rect r="r" b="b" t="t" l="l"/>
            <a:pathLst>
              <a:path h="5369090" w="2927833">
                <a:moveTo>
                  <a:pt x="0" y="0"/>
                </a:moveTo>
                <a:lnTo>
                  <a:pt x="2927832" y="0"/>
                </a:lnTo>
                <a:lnTo>
                  <a:pt x="2927832" y="5369090"/>
                </a:lnTo>
                <a:lnTo>
                  <a:pt x="0" y="5369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50034" y="2722121"/>
            <a:ext cx="1437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6984" y="4032152"/>
            <a:ext cx="9563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652" y="5279469"/>
            <a:ext cx="2185988" cy="96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"/>
              </a:lnSpc>
            </a:pPr>
            <a:r>
              <a:rPr lang="en-US" sz="15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AWS-hosted WireGuard gateway with NAT/routing and TCP 443 tunnelling support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785664" y="2115445"/>
            <a:ext cx="3425180" cy="5369090"/>
          </a:xfrm>
          <a:custGeom>
            <a:avLst/>
            <a:gdLst/>
            <a:ahLst/>
            <a:cxnLst/>
            <a:rect r="r" b="b" t="t" l="l"/>
            <a:pathLst>
              <a:path h="5369090" w="3425180">
                <a:moveTo>
                  <a:pt x="0" y="0"/>
                </a:moveTo>
                <a:lnTo>
                  <a:pt x="3425180" y="0"/>
                </a:lnTo>
                <a:lnTo>
                  <a:pt x="3425180" y="5369090"/>
                </a:lnTo>
                <a:lnTo>
                  <a:pt x="0" y="5369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51487" y="2722121"/>
            <a:ext cx="1437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2945" y="4032152"/>
            <a:ext cx="7539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5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69663" y="5174151"/>
            <a:ext cx="1954530" cy="120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"/>
              </a:lnSpc>
            </a:pPr>
            <a:r>
              <a:rPr lang="en-US" sz="15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Filebeat, Winlogbeat, Auditbeat and Suricata collect cloud, endpoint, identity and network telemetry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187670" y="2115445"/>
            <a:ext cx="3424628" cy="5369090"/>
          </a:xfrm>
          <a:custGeom>
            <a:avLst/>
            <a:gdLst/>
            <a:ahLst/>
            <a:cxnLst/>
            <a:rect r="r" b="b" t="t" l="l"/>
            <a:pathLst>
              <a:path h="5369090" w="3424628">
                <a:moveTo>
                  <a:pt x="0" y="0"/>
                </a:moveTo>
                <a:lnTo>
                  <a:pt x="3424628" y="0"/>
                </a:lnTo>
                <a:lnTo>
                  <a:pt x="3424628" y="5369090"/>
                </a:lnTo>
                <a:lnTo>
                  <a:pt x="0" y="5369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052941" y="2722121"/>
            <a:ext cx="1437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2356" y="4032152"/>
            <a:ext cx="182507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6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Buffer &amp; process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5242" y="5279469"/>
            <a:ext cx="2086927" cy="120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"/>
              </a:lnSpc>
            </a:pPr>
            <a:r>
              <a:rPr lang="en-US" sz="15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Logstash ingest pipeline normalizes events, Kafka buffers them, indexer routes to SOC indices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589123" y="2115445"/>
            <a:ext cx="3425180" cy="5369090"/>
          </a:xfrm>
          <a:custGeom>
            <a:avLst/>
            <a:gdLst/>
            <a:ahLst/>
            <a:cxnLst/>
            <a:rect r="r" b="b" t="t" l="l"/>
            <a:pathLst>
              <a:path h="5369090" w="3425180">
                <a:moveTo>
                  <a:pt x="0" y="0"/>
                </a:moveTo>
                <a:lnTo>
                  <a:pt x="3425181" y="0"/>
                </a:lnTo>
                <a:lnTo>
                  <a:pt x="3425181" y="5369090"/>
                </a:lnTo>
                <a:lnTo>
                  <a:pt x="0" y="5369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454414" y="2722121"/>
            <a:ext cx="1437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10428" y="4032152"/>
            <a:ext cx="7213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3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Enrich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15896" y="5384759"/>
            <a:ext cx="2068830" cy="72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"/>
              </a:lnSpc>
            </a:pPr>
            <a:r>
              <a:rPr lang="en-US" sz="15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MISP IOC lookups add threat.indicator.matched fields to relevant events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990596" y="2115445"/>
            <a:ext cx="3425161" cy="5369090"/>
          </a:xfrm>
          <a:custGeom>
            <a:avLst/>
            <a:gdLst/>
            <a:ahLst/>
            <a:cxnLst/>
            <a:rect r="r" b="b" t="t" l="l"/>
            <a:pathLst>
              <a:path h="5369090" w="3425161">
                <a:moveTo>
                  <a:pt x="0" y="0"/>
                </a:moveTo>
                <a:lnTo>
                  <a:pt x="3425162" y="0"/>
                </a:lnTo>
                <a:lnTo>
                  <a:pt x="3425162" y="5369090"/>
                </a:lnTo>
                <a:lnTo>
                  <a:pt x="0" y="5369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856401" y="2722121"/>
            <a:ext cx="1437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4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0477" y="9747228"/>
            <a:ext cx="227742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324" spc="-17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951994" y="9749133"/>
            <a:ext cx="218598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32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81402" y="3872322"/>
            <a:ext cx="153828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2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Detect &amp; investigate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90890" y="5384759"/>
            <a:ext cx="2121217" cy="965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"/>
              </a:lnSpc>
            </a:pPr>
            <a:r>
              <a:rPr lang="en-US" sz="154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Kibana detection rules create alerts and support Discover-based triage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55672" y="8634174"/>
            <a:ext cx="1311878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124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Design principle: decouple collection, processing, storage and detection so each layer can be tested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82927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849" spc="-200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Hybrid SOC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41624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3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Editable topology based on the implemented lab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65151" y="582082"/>
            <a:ext cx="11801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-146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4266" y="1632966"/>
            <a:ext cx="5717934" cy="7363854"/>
          </a:xfrm>
          <a:custGeom>
            <a:avLst/>
            <a:gdLst/>
            <a:ahLst/>
            <a:cxnLst/>
            <a:rect r="r" b="b" t="t" l="l"/>
            <a:pathLst>
              <a:path h="7363854" w="5717934">
                <a:moveTo>
                  <a:pt x="0" y="0"/>
                </a:moveTo>
                <a:lnTo>
                  <a:pt x="5717934" y="0"/>
                </a:lnTo>
                <a:lnTo>
                  <a:pt x="5717934" y="7363854"/>
                </a:lnTo>
                <a:lnTo>
                  <a:pt x="0" y="7363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0537" y="1968294"/>
            <a:ext cx="194500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spc="-198">
                <a:solidFill>
                  <a:srgbClr val="1B8B8B"/>
                </a:solidFill>
                <a:latin typeface="Arial"/>
                <a:ea typeface="Arial"/>
                <a:cs typeface="Arial"/>
                <a:sym typeface="Arial"/>
              </a:rPr>
              <a:t>ON-PREMISE / LAB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82440" y="2728360"/>
            <a:ext cx="2292715" cy="1236393"/>
          </a:xfrm>
          <a:custGeom>
            <a:avLst/>
            <a:gdLst/>
            <a:ahLst/>
            <a:cxnLst/>
            <a:rect r="r" b="b" t="t" l="l"/>
            <a:pathLst>
              <a:path h="1236393" w="2292715">
                <a:moveTo>
                  <a:pt x="0" y="0"/>
                </a:moveTo>
                <a:lnTo>
                  <a:pt x="2292715" y="0"/>
                </a:lnTo>
                <a:lnTo>
                  <a:pt x="229271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0092" y="2973562"/>
            <a:ext cx="1157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3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SOC-Core</a:t>
            </a:r>
          </a:p>
          <a:p>
            <a:pPr algn="l">
              <a:lnSpc>
                <a:spcPts val="1559"/>
              </a:lnSpc>
            </a:pPr>
            <a:r>
              <a:rPr lang="en-US" sz="1299" spc="-4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192.168.150.20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619900" y="2728360"/>
            <a:ext cx="2018395" cy="1236393"/>
          </a:xfrm>
          <a:custGeom>
            <a:avLst/>
            <a:gdLst/>
            <a:ahLst/>
            <a:cxnLst/>
            <a:rect r="r" b="b" t="t" l="l"/>
            <a:pathLst>
              <a:path h="1236393" w="2018395">
                <a:moveTo>
                  <a:pt x="0" y="0"/>
                </a:moveTo>
                <a:lnTo>
                  <a:pt x="2018395" y="0"/>
                </a:lnTo>
                <a:lnTo>
                  <a:pt x="201839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50392" y="2973562"/>
            <a:ext cx="1157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3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MISP</a:t>
            </a:r>
          </a:p>
          <a:p>
            <a:pPr algn="ctr">
              <a:lnSpc>
                <a:spcPts val="1559"/>
              </a:lnSpc>
            </a:pPr>
            <a:r>
              <a:rPr lang="en-US" sz="1299" spc="-3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192.168.150.10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2440" y="4442860"/>
            <a:ext cx="2292715" cy="1236393"/>
          </a:xfrm>
          <a:custGeom>
            <a:avLst/>
            <a:gdLst/>
            <a:ahLst/>
            <a:cxnLst/>
            <a:rect r="r" b="b" t="t" l="l"/>
            <a:pathLst>
              <a:path h="1236393" w="2292715">
                <a:moveTo>
                  <a:pt x="0" y="0"/>
                </a:moveTo>
                <a:lnTo>
                  <a:pt x="2292715" y="0"/>
                </a:lnTo>
                <a:lnTo>
                  <a:pt x="229271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50092" y="4688062"/>
            <a:ext cx="1157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3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IDS</a:t>
            </a:r>
          </a:p>
          <a:p>
            <a:pPr algn="ctr">
              <a:lnSpc>
                <a:spcPts val="1559"/>
              </a:lnSpc>
            </a:pPr>
            <a:r>
              <a:rPr lang="en-US" sz="1299" spc="-3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192.168.150.30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619900" y="4442860"/>
            <a:ext cx="2018395" cy="1236393"/>
          </a:xfrm>
          <a:custGeom>
            <a:avLst/>
            <a:gdLst/>
            <a:ahLst/>
            <a:cxnLst/>
            <a:rect r="r" b="b" t="t" l="l"/>
            <a:pathLst>
              <a:path h="1236393" w="2018395">
                <a:moveTo>
                  <a:pt x="0" y="0"/>
                </a:moveTo>
                <a:lnTo>
                  <a:pt x="2018395" y="0"/>
                </a:lnTo>
                <a:lnTo>
                  <a:pt x="201839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050392" y="4688062"/>
            <a:ext cx="1157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11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AD-DS</a:t>
            </a:r>
          </a:p>
          <a:p>
            <a:pPr algn="ctr">
              <a:lnSpc>
                <a:spcPts val="1559"/>
              </a:lnSpc>
            </a:pPr>
            <a:r>
              <a:rPr lang="en-US" sz="1299" spc="-3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192.168.150.40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82440" y="6843160"/>
            <a:ext cx="2292715" cy="1236393"/>
          </a:xfrm>
          <a:custGeom>
            <a:avLst/>
            <a:gdLst/>
            <a:ahLst/>
            <a:cxnLst/>
            <a:rect r="r" b="b" t="t" l="l"/>
            <a:pathLst>
              <a:path h="1236393" w="2292715">
                <a:moveTo>
                  <a:pt x="0" y="0"/>
                </a:moveTo>
                <a:lnTo>
                  <a:pt x="2292715" y="0"/>
                </a:lnTo>
                <a:lnTo>
                  <a:pt x="229271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69930" y="7088362"/>
            <a:ext cx="191643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24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Web / Juice Shop</a:t>
            </a:r>
          </a:p>
          <a:p>
            <a:pPr algn="ctr">
              <a:lnSpc>
                <a:spcPts val="1559"/>
              </a:lnSpc>
            </a:pPr>
            <a:r>
              <a:rPr lang="en-US" sz="1299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192.168.100.10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619900" y="6843160"/>
            <a:ext cx="2018395" cy="1236393"/>
          </a:xfrm>
          <a:custGeom>
            <a:avLst/>
            <a:gdLst/>
            <a:ahLst/>
            <a:cxnLst/>
            <a:rect r="r" b="b" t="t" l="l"/>
            <a:pathLst>
              <a:path h="1236393" w="2018395">
                <a:moveTo>
                  <a:pt x="0" y="0"/>
                </a:moveTo>
                <a:lnTo>
                  <a:pt x="2018395" y="0"/>
                </a:lnTo>
                <a:lnTo>
                  <a:pt x="2018395" y="1236393"/>
                </a:lnTo>
                <a:lnTo>
                  <a:pt x="0" y="12363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005567" y="7088362"/>
            <a:ext cx="12477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3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Honeypot</a:t>
            </a:r>
          </a:p>
          <a:p>
            <a:pPr algn="l">
              <a:lnSpc>
                <a:spcPts val="1559"/>
              </a:lnSpc>
            </a:pPr>
            <a:r>
              <a:rPr lang="en-US" sz="1299" spc="-4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192.168.100.100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49253" y="6112078"/>
            <a:ext cx="281559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Internal / Security 192.168.150.0/24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95290" y="8320145"/>
            <a:ext cx="178784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 spc="-7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DMZ 192.168.100.0/24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769713" y="3477873"/>
            <a:ext cx="3125391" cy="2028111"/>
          </a:xfrm>
          <a:custGeom>
            <a:avLst/>
            <a:gdLst/>
            <a:ahLst/>
            <a:cxnLst/>
            <a:rect r="r" b="b" t="t" l="l"/>
            <a:pathLst>
              <a:path h="2028111" w="3125391">
                <a:moveTo>
                  <a:pt x="0" y="0"/>
                </a:moveTo>
                <a:lnTo>
                  <a:pt x="3125390" y="0"/>
                </a:lnTo>
                <a:lnTo>
                  <a:pt x="3125390" y="2028110"/>
                </a:lnTo>
                <a:lnTo>
                  <a:pt x="0" y="202811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91134" y="3984107"/>
            <a:ext cx="22141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13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AWS VPN Gateway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43401" y="4657392"/>
            <a:ext cx="2174558" cy="64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WireGuard + NAT + Routing wstunnel over TCP 443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342074" y="1632966"/>
            <a:ext cx="7295274" cy="7363854"/>
          </a:xfrm>
          <a:custGeom>
            <a:avLst/>
            <a:gdLst/>
            <a:ahLst/>
            <a:cxnLst/>
            <a:rect r="r" b="b" t="t" l="l"/>
            <a:pathLst>
              <a:path h="7363854" w="7295274">
                <a:moveTo>
                  <a:pt x="0" y="0"/>
                </a:moveTo>
                <a:lnTo>
                  <a:pt x="7295273" y="0"/>
                </a:lnTo>
                <a:lnTo>
                  <a:pt x="7295273" y="7363854"/>
                </a:lnTo>
                <a:lnTo>
                  <a:pt x="0" y="736385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288300" y="2659504"/>
            <a:ext cx="2068020" cy="1903276"/>
          </a:xfrm>
          <a:custGeom>
            <a:avLst/>
            <a:gdLst/>
            <a:ahLst/>
            <a:cxnLst/>
            <a:rect r="r" b="b" t="t" l="l"/>
            <a:pathLst>
              <a:path h="1903276" w="2068020">
                <a:moveTo>
                  <a:pt x="0" y="0"/>
                </a:moveTo>
                <a:lnTo>
                  <a:pt x="2068021" y="0"/>
                </a:lnTo>
                <a:lnTo>
                  <a:pt x="2068021" y="1903276"/>
                </a:lnTo>
                <a:lnTo>
                  <a:pt x="0" y="19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678897" y="1968294"/>
            <a:ext cx="2514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spc="-214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AWS CLOUD TELEMETRY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026540" y="2934100"/>
            <a:ext cx="2086023" cy="1263063"/>
          </a:xfrm>
          <a:custGeom>
            <a:avLst/>
            <a:gdLst/>
            <a:ahLst/>
            <a:cxnLst/>
            <a:rect r="r" b="b" t="t" l="l"/>
            <a:pathLst>
              <a:path h="1263063" w="2086023">
                <a:moveTo>
                  <a:pt x="0" y="0"/>
                </a:moveTo>
                <a:lnTo>
                  <a:pt x="2086023" y="0"/>
                </a:lnTo>
                <a:lnTo>
                  <a:pt x="2086023" y="1263063"/>
                </a:lnTo>
                <a:lnTo>
                  <a:pt x="0" y="126306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290706" y="3179302"/>
            <a:ext cx="156019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CloudTrail</a:t>
            </a:r>
          </a:p>
          <a:p>
            <a:pPr algn="ctr">
              <a:lnSpc>
                <a:spcPts val="1559"/>
              </a:lnSpc>
            </a:pPr>
            <a:r>
              <a:rPr lang="en-US" sz="12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Management events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701693" y="2934100"/>
            <a:ext cx="1880283" cy="1263063"/>
          </a:xfrm>
          <a:custGeom>
            <a:avLst/>
            <a:gdLst/>
            <a:ahLst/>
            <a:cxnLst/>
            <a:rect r="r" b="b" t="t" l="l"/>
            <a:pathLst>
              <a:path h="1263063" w="1880283">
                <a:moveTo>
                  <a:pt x="0" y="0"/>
                </a:moveTo>
                <a:lnTo>
                  <a:pt x="1880283" y="0"/>
                </a:lnTo>
                <a:lnTo>
                  <a:pt x="1880283" y="1263063"/>
                </a:lnTo>
                <a:lnTo>
                  <a:pt x="0" y="126306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182401" y="3179302"/>
            <a:ext cx="91916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spc="-3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</a:p>
          <a:p>
            <a:pPr algn="ctr">
              <a:lnSpc>
                <a:spcPts val="1559"/>
              </a:lnSpc>
            </a:pPr>
            <a:r>
              <a:rPr lang="en-US" sz="1299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Log storage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5964300" y="2934100"/>
            <a:ext cx="1263063" cy="1263063"/>
          </a:xfrm>
          <a:custGeom>
            <a:avLst/>
            <a:gdLst/>
            <a:ahLst/>
            <a:cxnLst/>
            <a:rect r="r" b="b" t="t" l="l"/>
            <a:pathLst>
              <a:path h="1263063" w="1263063">
                <a:moveTo>
                  <a:pt x="0" y="0"/>
                </a:moveTo>
                <a:lnTo>
                  <a:pt x="1263063" y="0"/>
                </a:lnTo>
                <a:lnTo>
                  <a:pt x="1263063" y="1263063"/>
                </a:lnTo>
                <a:lnTo>
                  <a:pt x="0" y="126306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333775" y="3179302"/>
            <a:ext cx="5257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14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SQS</a:t>
            </a:r>
          </a:p>
          <a:p>
            <a:pPr algn="l">
              <a:lnSpc>
                <a:spcPts val="1559"/>
              </a:lnSpc>
            </a:pPr>
            <a:r>
              <a:rPr lang="en-US" sz="1299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957960" y="5608720"/>
            <a:ext cx="2292715" cy="1332595"/>
          </a:xfrm>
          <a:custGeom>
            <a:avLst/>
            <a:gdLst/>
            <a:ahLst/>
            <a:cxnLst/>
            <a:rect r="r" b="b" t="t" l="l"/>
            <a:pathLst>
              <a:path h="1332595" w="2292715">
                <a:moveTo>
                  <a:pt x="0" y="0"/>
                </a:moveTo>
                <a:lnTo>
                  <a:pt x="2292715" y="0"/>
                </a:lnTo>
                <a:lnTo>
                  <a:pt x="2292715" y="1332595"/>
                </a:lnTo>
                <a:lnTo>
                  <a:pt x="0" y="133259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627129" y="5853922"/>
            <a:ext cx="95440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10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Filebeat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97430" y="6425994"/>
            <a:ext cx="101536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AWS S3 input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975480" y="5608720"/>
            <a:ext cx="2292715" cy="1332595"/>
          </a:xfrm>
          <a:custGeom>
            <a:avLst/>
            <a:gdLst/>
            <a:ahLst/>
            <a:cxnLst/>
            <a:rect r="r" b="b" t="t" l="l"/>
            <a:pathLst>
              <a:path h="1332595" w="2292715">
                <a:moveTo>
                  <a:pt x="0" y="0"/>
                </a:moveTo>
                <a:lnTo>
                  <a:pt x="2292715" y="0"/>
                </a:lnTo>
                <a:lnTo>
                  <a:pt x="2292715" y="1332595"/>
                </a:lnTo>
                <a:lnTo>
                  <a:pt x="0" y="133259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587957" y="5853922"/>
            <a:ext cx="106775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1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Logstash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09559" y="6425994"/>
            <a:ext cx="102584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Parse + route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6375780" y="5609253"/>
            <a:ext cx="988743" cy="1331643"/>
          </a:xfrm>
          <a:custGeom>
            <a:avLst/>
            <a:gdLst/>
            <a:ahLst/>
            <a:cxnLst/>
            <a:rect r="r" b="b" t="t" l="l"/>
            <a:pathLst>
              <a:path h="1331643" w="988743">
                <a:moveTo>
                  <a:pt x="0" y="0"/>
                </a:moveTo>
                <a:lnTo>
                  <a:pt x="988743" y="0"/>
                </a:lnTo>
                <a:lnTo>
                  <a:pt x="988743" y="1331643"/>
                </a:lnTo>
                <a:lnTo>
                  <a:pt x="0" y="133164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6724186" y="5853922"/>
            <a:ext cx="29241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26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642652" y="6425994"/>
            <a:ext cx="45624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2138660" y="3510001"/>
            <a:ext cx="4470949" cy="2815914"/>
          </a:xfrm>
          <a:custGeom>
            <a:avLst/>
            <a:gdLst/>
            <a:ahLst/>
            <a:cxnLst/>
            <a:rect r="r" b="b" t="t" l="l"/>
            <a:pathLst>
              <a:path h="2815914" w="4470949">
                <a:moveTo>
                  <a:pt x="0" y="0"/>
                </a:moveTo>
                <a:lnTo>
                  <a:pt x="4470949" y="0"/>
                </a:lnTo>
                <a:lnTo>
                  <a:pt x="4470949" y="2815913"/>
                </a:lnTo>
                <a:lnTo>
                  <a:pt x="0" y="281591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516654" y="2315842"/>
            <a:ext cx="156305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spc="-3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Internet / Elastic IP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0477" y="9756753"/>
            <a:ext cx="227742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24" spc="-16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951994" y="9758658"/>
            <a:ext cx="218598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24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72658" y="4930169"/>
            <a:ext cx="126492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Encrypted tunnel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492833"/>
            <a:ext cx="691217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9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Network Segmentation &amp; Host Roles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38353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Three functional zones reduce exposure and clarify traffic flows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52527" y="582082"/>
            <a:ext cx="80676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1471" y="1843564"/>
            <a:ext cx="16475269" cy="1222886"/>
          </a:xfrm>
          <a:custGeom>
            <a:avLst/>
            <a:gdLst/>
            <a:ahLst/>
            <a:cxnLst/>
            <a:rect r="r" b="b" t="t" l="l"/>
            <a:pathLst>
              <a:path h="1222886" w="16475269">
                <a:moveTo>
                  <a:pt x="0" y="0"/>
                </a:moveTo>
                <a:lnTo>
                  <a:pt x="16475269" y="0"/>
                </a:lnTo>
                <a:lnTo>
                  <a:pt x="16475269" y="1222886"/>
                </a:lnTo>
                <a:lnTo>
                  <a:pt x="0" y="12228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3437" y="2113531"/>
            <a:ext cx="191357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1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Transport / Edge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49597" y="2124885"/>
            <a:ext cx="16259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120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192.168.74.0/24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55637" y="2211629"/>
            <a:ext cx="637508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DHCP uplink used only to reach the VPN gateway; DNS registration disabled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1471" y="3420904"/>
            <a:ext cx="16475269" cy="1222886"/>
          </a:xfrm>
          <a:custGeom>
            <a:avLst/>
            <a:gdLst/>
            <a:ahLst/>
            <a:cxnLst/>
            <a:rect r="r" b="b" t="t" l="l"/>
            <a:pathLst>
              <a:path h="1222886" w="16475269">
                <a:moveTo>
                  <a:pt x="0" y="0"/>
                </a:moveTo>
                <a:lnTo>
                  <a:pt x="16475269" y="0"/>
                </a:lnTo>
                <a:lnTo>
                  <a:pt x="16475269" y="1222886"/>
                </a:lnTo>
                <a:lnTo>
                  <a:pt x="0" y="1222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83437" y="3690871"/>
            <a:ext cx="55530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9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DMZ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49597" y="3702225"/>
            <a:ext cx="1745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127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192.168.100.0/24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55637" y="3788969"/>
            <a:ext cx="45739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OWASP Juice Shop / web server and honeypot services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1471" y="4998244"/>
            <a:ext cx="16475269" cy="1222886"/>
          </a:xfrm>
          <a:custGeom>
            <a:avLst/>
            <a:gdLst/>
            <a:ahLst/>
            <a:cxnLst/>
            <a:rect r="r" b="b" t="t" l="l"/>
            <a:pathLst>
              <a:path h="1222886" w="16475269">
                <a:moveTo>
                  <a:pt x="0" y="0"/>
                </a:moveTo>
                <a:lnTo>
                  <a:pt x="16475269" y="0"/>
                </a:lnTo>
                <a:lnTo>
                  <a:pt x="16475269" y="1222886"/>
                </a:lnTo>
                <a:lnTo>
                  <a:pt x="0" y="12228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3437" y="5268211"/>
            <a:ext cx="211645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Internal / Security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49597" y="5279565"/>
            <a:ext cx="174593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127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192.168.150.0/24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55637" y="5366309"/>
            <a:ext cx="405193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AD, DNS, SOC-Core, MISP and IDS infrastructure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0913" y="696086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32770" y="7078247"/>
            <a:ext cx="8382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7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KPK-DC01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45956" y="7084228"/>
            <a:ext cx="127444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AD DS / DNS / GC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83703" y="7084228"/>
            <a:ext cx="11296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192.168.150.40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535893" y="696086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687750" y="7078247"/>
            <a:ext cx="80295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4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SOC-Core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00936" y="7084228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/ Kafka / Logstash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38683" y="7084228"/>
            <a:ext cx="11296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192.168.150.20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090873" y="696086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242730" y="7078247"/>
            <a:ext cx="102108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VM-MISP-01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55916" y="7084228"/>
            <a:ext cx="168783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MISP / MariaDB / Redis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893663" y="7084228"/>
            <a:ext cx="11296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192.168.150.10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80913" y="786644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32770" y="7983826"/>
            <a:ext cx="88201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7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VM-IDS-01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45956" y="7989808"/>
            <a:ext cx="90582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Suricata IDS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83703" y="7989808"/>
            <a:ext cx="11296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192.168.150.30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535893" y="786644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687750" y="7983826"/>
            <a:ext cx="28794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-10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VM-SERVICES-01        </a:t>
            </a:r>
            <a:r>
              <a:rPr lang="en-US" sz="1300" spc="-10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OWASP Juice Shop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38683" y="7989808"/>
            <a:ext cx="11296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192.168.100.10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090873" y="7866440"/>
            <a:ext cx="5116039" cy="672627"/>
          </a:xfrm>
          <a:custGeom>
            <a:avLst/>
            <a:gdLst/>
            <a:ahLst/>
            <a:cxnLst/>
            <a:rect r="r" b="b" t="t" l="l"/>
            <a:pathLst>
              <a:path h="672627" w="5116039">
                <a:moveTo>
                  <a:pt x="0" y="0"/>
                </a:moveTo>
                <a:lnTo>
                  <a:pt x="5116039" y="0"/>
                </a:lnTo>
                <a:lnTo>
                  <a:pt x="5116039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242730" y="7983826"/>
            <a:ext cx="8496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Honeypot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655916" y="7989808"/>
            <a:ext cx="126396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Cowrie / Dionaea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801870" y="7966862"/>
            <a:ext cx="13132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spc="-97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192.168.100.100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492833"/>
            <a:ext cx="4155758" cy="63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262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72118"/>
            <a:ext cx="5685472" cy="25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Tools selected for collection, processing, enrichment and detection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05346" y="582082"/>
            <a:ext cx="501015" cy="22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87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44398" y="1978285"/>
            <a:ext cx="3105950" cy="6740690"/>
          </a:xfrm>
          <a:custGeom>
            <a:avLst/>
            <a:gdLst/>
            <a:ahLst/>
            <a:cxnLst/>
            <a:rect r="r" b="b" t="t" l="l"/>
            <a:pathLst>
              <a:path h="6740690" w="3105950">
                <a:moveTo>
                  <a:pt x="0" y="0"/>
                </a:moveTo>
                <a:lnTo>
                  <a:pt x="3105950" y="0"/>
                </a:lnTo>
                <a:lnTo>
                  <a:pt x="3105950" y="6740690"/>
                </a:lnTo>
                <a:lnTo>
                  <a:pt x="0" y="6740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44665" y="1978962"/>
            <a:ext cx="3105950" cy="951396"/>
            <a:chOff x="0" y="0"/>
            <a:chExt cx="4141267" cy="1268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41216" cy="1268477"/>
            </a:xfrm>
            <a:custGeom>
              <a:avLst/>
              <a:gdLst/>
              <a:ahLst/>
              <a:cxnLst/>
              <a:rect r="r" b="b" t="t" l="l"/>
              <a:pathLst>
                <a:path h="1268477" w="4141216">
                  <a:moveTo>
                    <a:pt x="0" y="0"/>
                  </a:moveTo>
                  <a:lnTo>
                    <a:pt x="4141216" y="0"/>
                  </a:lnTo>
                  <a:lnTo>
                    <a:pt x="4141216" y="1268477"/>
                  </a:lnTo>
                  <a:lnTo>
                    <a:pt x="0" y="12684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11" r="-1" b="-13615"/>
              </a:stretch>
            </a:blipFill>
            <a:ln w="18898" cap="sq">
              <a:solidFill>
                <a:srgbClr val="F49D0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141267" cy="128757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spc="-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Connectivity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48941" y="339416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09286" y="3575152"/>
            <a:ext cx="77724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13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AWS EC2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48941" y="446390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7769" y="4645438"/>
            <a:ext cx="9801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WireGuard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8941" y="553418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68786" y="5715171"/>
            <a:ext cx="8572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wstunnel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48941" y="660392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57655" y="6784905"/>
            <a:ext cx="127920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5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nftables / NAT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41978" y="1978285"/>
            <a:ext cx="3105950" cy="6740690"/>
          </a:xfrm>
          <a:custGeom>
            <a:avLst/>
            <a:gdLst/>
            <a:ahLst/>
            <a:cxnLst/>
            <a:rect r="r" b="b" t="t" l="l"/>
            <a:pathLst>
              <a:path h="6740690" w="3105950">
                <a:moveTo>
                  <a:pt x="0" y="0"/>
                </a:moveTo>
                <a:lnTo>
                  <a:pt x="3105950" y="0"/>
                </a:lnTo>
                <a:lnTo>
                  <a:pt x="3105950" y="6740690"/>
                </a:lnTo>
                <a:lnTo>
                  <a:pt x="0" y="6740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42244" y="1978962"/>
            <a:ext cx="3105950" cy="951396"/>
            <a:chOff x="0" y="0"/>
            <a:chExt cx="4141267" cy="1268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1216" cy="1268477"/>
            </a:xfrm>
            <a:custGeom>
              <a:avLst/>
              <a:gdLst/>
              <a:ahLst/>
              <a:cxnLst/>
              <a:rect r="r" b="b" t="t" l="l"/>
              <a:pathLst>
                <a:path h="1268477" w="4141216">
                  <a:moveTo>
                    <a:pt x="0" y="0"/>
                  </a:moveTo>
                  <a:lnTo>
                    <a:pt x="4141216" y="0"/>
                  </a:lnTo>
                  <a:lnTo>
                    <a:pt x="4141216" y="1268477"/>
                  </a:lnTo>
                  <a:lnTo>
                    <a:pt x="0" y="12684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11" r="-1" b="-13615"/>
              </a:stretch>
            </a:blipFill>
            <a:ln w="18898" cap="sq">
              <a:solidFill>
                <a:srgbClr val="1B8B8B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141267" cy="128757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spc="-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Collection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546521" y="339416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423078" y="3575152"/>
            <a:ext cx="74485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4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Filebeat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546521" y="446390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270259" y="4645438"/>
            <a:ext cx="105060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3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Winlogbeat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546521" y="553418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337753" y="5715171"/>
            <a:ext cx="91535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Auditbeat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546521" y="660392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413343" y="6784905"/>
            <a:ext cx="76390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Suricata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739558" y="1978285"/>
            <a:ext cx="3105950" cy="6740690"/>
          </a:xfrm>
          <a:custGeom>
            <a:avLst/>
            <a:gdLst/>
            <a:ahLst/>
            <a:cxnLst/>
            <a:rect r="r" b="b" t="t" l="l"/>
            <a:pathLst>
              <a:path h="6740690" w="3105950">
                <a:moveTo>
                  <a:pt x="0" y="0"/>
                </a:moveTo>
                <a:lnTo>
                  <a:pt x="3105950" y="0"/>
                </a:lnTo>
                <a:lnTo>
                  <a:pt x="3105950" y="6740690"/>
                </a:lnTo>
                <a:lnTo>
                  <a:pt x="0" y="67406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739825" y="1978962"/>
            <a:ext cx="3105950" cy="951396"/>
            <a:chOff x="0" y="0"/>
            <a:chExt cx="4141267" cy="12685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1216" cy="1268477"/>
            </a:xfrm>
            <a:custGeom>
              <a:avLst/>
              <a:gdLst/>
              <a:ahLst/>
              <a:cxnLst/>
              <a:rect r="r" b="b" t="t" l="l"/>
              <a:pathLst>
                <a:path h="1268477" w="4141216">
                  <a:moveTo>
                    <a:pt x="0" y="0"/>
                  </a:moveTo>
                  <a:lnTo>
                    <a:pt x="4141216" y="0"/>
                  </a:lnTo>
                  <a:lnTo>
                    <a:pt x="4141216" y="1268477"/>
                  </a:lnTo>
                  <a:lnTo>
                    <a:pt x="0" y="12684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11" r="-1" b="-13615"/>
              </a:stretch>
            </a:blipFill>
            <a:ln w="18898" cap="sq">
              <a:solidFill>
                <a:srgbClr val="2E6A9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141267" cy="128757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spc="-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Processing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8044101" y="339416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876919" y="3575152"/>
            <a:ext cx="83058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Logstash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044101" y="446390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020556" y="4645438"/>
            <a:ext cx="54483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8044101" y="553418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803462" y="5715171"/>
            <a:ext cx="97821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8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8044101" y="660392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618792" y="6784905"/>
            <a:ext cx="134778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ECS-style fields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1237138" y="1978285"/>
            <a:ext cx="3105950" cy="6740690"/>
          </a:xfrm>
          <a:custGeom>
            <a:avLst/>
            <a:gdLst/>
            <a:ahLst/>
            <a:cxnLst/>
            <a:rect r="r" b="b" t="t" l="l"/>
            <a:pathLst>
              <a:path h="6740690" w="3105950">
                <a:moveTo>
                  <a:pt x="0" y="0"/>
                </a:moveTo>
                <a:lnTo>
                  <a:pt x="3105950" y="0"/>
                </a:lnTo>
                <a:lnTo>
                  <a:pt x="3105950" y="6740690"/>
                </a:lnTo>
                <a:lnTo>
                  <a:pt x="0" y="6740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237404" y="1978962"/>
            <a:ext cx="3105950" cy="951396"/>
            <a:chOff x="0" y="0"/>
            <a:chExt cx="4141267" cy="12685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41216" cy="1268477"/>
            </a:xfrm>
            <a:custGeom>
              <a:avLst/>
              <a:gdLst/>
              <a:ahLst/>
              <a:cxnLst/>
              <a:rect r="r" b="b" t="t" l="l"/>
              <a:pathLst>
                <a:path h="1268477" w="4141216">
                  <a:moveTo>
                    <a:pt x="0" y="0"/>
                  </a:moveTo>
                  <a:lnTo>
                    <a:pt x="4141216" y="0"/>
                  </a:lnTo>
                  <a:lnTo>
                    <a:pt x="4141216" y="1268477"/>
                  </a:lnTo>
                  <a:lnTo>
                    <a:pt x="0" y="12684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11" r="-1" b="-13615"/>
              </a:stretch>
            </a:blipFill>
            <a:ln w="18898" cap="sq">
              <a:solidFill>
                <a:srgbClr val="2D7C5A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141267" cy="128757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spc="-12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Storage &amp; SOC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1541681" y="339416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1923586" y="3575152"/>
            <a:ext cx="17335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9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Elasticsearch 8.11.4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1541681" y="446390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2084501" y="4645438"/>
            <a:ext cx="141160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Kibana Security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1541681" y="553418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2395549" y="5715171"/>
            <a:ext cx="78962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1541681" y="660392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2019178" y="6784905"/>
            <a:ext cx="154209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Detection Engine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4734718" y="1978285"/>
            <a:ext cx="3105950" cy="6740690"/>
          </a:xfrm>
          <a:custGeom>
            <a:avLst/>
            <a:gdLst/>
            <a:ahLst/>
            <a:cxnLst/>
            <a:rect r="r" b="b" t="t" l="l"/>
            <a:pathLst>
              <a:path h="6740690" w="3105950">
                <a:moveTo>
                  <a:pt x="0" y="0"/>
                </a:moveTo>
                <a:lnTo>
                  <a:pt x="3105950" y="0"/>
                </a:lnTo>
                <a:lnTo>
                  <a:pt x="3105950" y="6740690"/>
                </a:lnTo>
                <a:lnTo>
                  <a:pt x="0" y="67406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4734985" y="1978962"/>
            <a:ext cx="3105950" cy="951396"/>
            <a:chOff x="0" y="0"/>
            <a:chExt cx="4141267" cy="12685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41216" cy="1268477"/>
            </a:xfrm>
            <a:custGeom>
              <a:avLst/>
              <a:gdLst/>
              <a:ahLst/>
              <a:cxnLst/>
              <a:rect r="r" b="b" t="t" l="l"/>
              <a:pathLst>
                <a:path h="1268477" w="4141216">
                  <a:moveTo>
                    <a:pt x="0" y="0"/>
                  </a:moveTo>
                  <a:lnTo>
                    <a:pt x="4141216" y="0"/>
                  </a:lnTo>
                  <a:lnTo>
                    <a:pt x="4141216" y="1268477"/>
                  </a:lnTo>
                  <a:lnTo>
                    <a:pt x="0" y="12684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11" r="-1" b="-13615"/>
              </a:stretch>
            </a:blipFill>
            <a:ln w="18898" cap="sq">
              <a:solidFill>
                <a:srgbClr val="C14039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141267" cy="128757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 spc="-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Identity &amp; Intel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5039261" y="339416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5341784" y="3575152"/>
            <a:ext cx="189166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7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Windows Server 2022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5039261" y="446390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15262403" y="4645438"/>
            <a:ext cx="205168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AD DS / DNS / Kerberos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5039261" y="5534187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5663634" y="5715171"/>
            <a:ext cx="124872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SSSD / realmd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15039261" y="6603921"/>
            <a:ext cx="2496664" cy="672627"/>
          </a:xfrm>
          <a:custGeom>
            <a:avLst/>
            <a:gdLst/>
            <a:ahLst/>
            <a:cxnLst/>
            <a:rect r="r" b="b" t="t" l="l"/>
            <a:pathLst>
              <a:path h="672627" w="2496664">
                <a:moveTo>
                  <a:pt x="0" y="0"/>
                </a:moveTo>
                <a:lnTo>
                  <a:pt x="2496664" y="0"/>
                </a:lnTo>
                <a:lnTo>
                  <a:pt x="2496664" y="672627"/>
                </a:lnTo>
                <a:lnTo>
                  <a:pt x="0" y="67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6047568" y="6784905"/>
            <a:ext cx="4800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MISP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60477" y="9756753"/>
            <a:ext cx="2277428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951994" y="9768183"/>
            <a:ext cx="21859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Hybrid Enterprise SOC Lab 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282264" y="120234"/>
            <a:ext cx="641196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79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Technology Stack — Connectivity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866" y="987114"/>
            <a:ext cx="1303020" cy="55245"/>
            <a:chOff x="0" y="0"/>
            <a:chExt cx="1737360" cy="73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6598" cy="72771"/>
            </a:xfrm>
            <a:custGeom>
              <a:avLst/>
              <a:gdLst/>
              <a:ahLst/>
              <a:cxnLst/>
              <a:rect r="r" b="b" t="t" l="l"/>
              <a:pathLst>
                <a:path h="72771" w="1736598">
                  <a:moveTo>
                    <a:pt x="1736598" y="0"/>
                  </a:moveTo>
                  <a:lnTo>
                    <a:pt x="0" y="0"/>
                  </a:lnTo>
                  <a:lnTo>
                    <a:pt x="0" y="72771"/>
                  </a:lnTo>
                  <a:lnTo>
                    <a:pt x="868299" y="72771"/>
                  </a:lnTo>
                  <a:lnTo>
                    <a:pt x="1736598" y="72771"/>
                  </a:lnTo>
                  <a:lnTo>
                    <a:pt x="1736598" y="0"/>
                  </a:lnTo>
                  <a:close/>
                </a:path>
              </a:pathLst>
            </a:custGeom>
            <a:solidFill>
              <a:srgbClr val="F49D0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5950" y="860993"/>
            <a:ext cx="586454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43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How the lab securely connects cloud and on-premise networks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72160" y="158334"/>
            <a:ext cx="1390498" cy="485623"/>
          </a:xfrm>
          <a:custGeom>
            <a:avLst/>
            <a:gdLst/>
            <a:ahLst/>
            <a:cxnLst/>
            <a:rect r="r" b="b" t="t" l="l"/>
            <a:pathLst>
              <a:path h="485623" w="1390498">
                <a:moveTo>
                  <a:pt x="0" y="0"/>
                </a:moveTo>
                <a:lnTo>
                  <a:pt x="1390498" y="0"/>
                </a:lnTo>
                <a:lnTo>
                  <a:pt x="13904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26179" y="193129"/>
            <a:ext cx="108013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20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CONNECTIVIT 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14650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2871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868" y="1829276"/>
            <a:ext cx="119107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299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AWS EC2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9016" y="2613489"/>
            <a:ext cx="5228272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Hosts the central VPN gateway in AWS and provides a stable, internet-reachable endpoint.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routes encrypted traffic between the lab networks and the cloud using IP forwarding and NAT.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74657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3431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5876" y="1829276"/>
            <a:ext cx="144571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05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WireGuard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9042" y="2613489"/>
            <a:ext cx="5053012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Creates the encrypted tunnel between on-premise VMs and the AWS gateway.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Peer keys, wg0 interfaces and AllowedIPs control which systems and networks can communicate.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14650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2871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868" y="5710809"/>
            <a:ext cx="116398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1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wstunnel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49016" y="6495040"/>
            <a:ext cx="5033962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Encapsulates WireGuard traffic inside WebSocket over TCP 443 when normal VPN ports are blocked.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This allows the tunnel to pass through restrictive organizational firewalls using an HTTPS-friendly path.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74657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23431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477" y="9818484"/>
            <a:ext cx="391001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6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Elastic ThreatOps Platform | Technology rationale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876" y="5710809"/>
            <a:ext cx="182522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2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nftables / NAT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9042" y="6495040"/>
            <a:ext cx="5055870" cy="139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Implements packet filtering, forwarding and network address translation on the VPN gateway.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controls traffic between the transport, internal-security and DMZ segments while enabling routed access.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282264" y="120234"/>
            <a:ext cx="587201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20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Technology Stack — Collection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866" y="987114"/>
            <a:ext cx="1303020" cy="55245"/>
            <a:chOff x="0" y="0"/>
            <a:chExt cx="1737360" cy="73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6598" cy="72771"/>
            </a:xfrm>
            <a:custGeom>
              <a:avLst/>
              <a:gdLst/>
              <a:ahLst/>
              <a:cxnLst/>
              <a:rect r="r" b="b" t="t" l="l"/>
              <a:pathLst>
                <a:path h="72771" w="1736598">
                  <a:moveTo>
                    <a:pt x="1736598" y="0"/>
                  </a:moveTo>
                  <a:lnTo>
                    <a:pt x="0" y="0"/>
                  </a:lnTo>
                  <a:lnTo>
                    <a:pt x="0" y="72771"/>
                  </a:lnTo>
                  <a:lnTo>
                    <a:pt x="868299" y="72771"/>
                  </a:lnTo>
                  <a:lnTo>
                    <a:pt x="1736598" y="72771"/>
                  </a:lnTo>
                  <a:lnTo>
                    <a:pt x="1736598" y="0"/>
                  </a:lnTo>
                  <a:close/>
                </a:path>
              </a:pathLst>
            </a:custGeom>
            <a:solidFill>
              <a:srgbClr val="22909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5950" y="860993"/>
            <a:ext cx="607028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43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Agents and sensors that capture security telemetry at the source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68802" y="244211"/>
            <a:ext cx="1390498" cy="485623"/>
          </a:xfrm>
          <a:custGeom>
            <a:avLst/>
            <a:gdLst/>
            <a:ahLst/>
            <a:cxnLst/>
            <a:rect r="r" b="b" t="t" l="l"/>
            <a:pathLst>
              <a:path h="485623" w="1390498">
                <a:moveTo>
                  <a:pt x="0" y="0"/>
                </a:moveTo>
                <a:lnTo>
                  <a:pt x="1390498" y="0"/>
                </a:lnTo>
                <a:lnTo>
                  <a:pt x="13904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61150" y="370256"/>
            <a:ext cx="100298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229092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14650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2871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868" y="1829276"/>
            <a:ext cx="100741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4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Filebeat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9016" y="2613489"/>
            <a:ext cx="5268278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Collects Linux, Nginx, Suricata and AWS-module logs with low system overhead.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forwards events to Logstash through the Beats input for centralized parsing and routing.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74657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3431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5876" y="1829276"/>
            <a:ext cx="149646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9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Winlogbeat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9042" y="2613489"/>
            <a:ext cx="4863465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Collects Windows Security, System, PowerShell, Active Directory and DNS event logs.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sends domain-controller activity into the same SOC pipeline for identity and authentication monitoring.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14650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2871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868" y="5710809"/>
            <a:ext cx="124851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05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Auditbeat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49016" y="6495040"/>
            <a:ext cx="5169218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Monitors Linux audit activity, user actions and file-integrity changes.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supports detection of privilege escalation, persistence attempts and modifications to sensitive files.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74657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23431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477" y="9818484"/>
            <a:ext cx="391001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6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Elastic ThreatOps Platform | Technology rationale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876" y="5710809"/>
            <a:ext cx="102810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5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Suricata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9042" y="6495040"/>
            <a:ext cx="5128260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Inspects network traffic as an IDS and produces structured EVE JSON events.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Its alerts, DNS and flow records help identify scans, malicious signatures and suspicious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282264" y="120234"/>
            <a:ext cx="7435215" cy="63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240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Technology Stack — Processing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866" y="987114"/>
            <a:ext cx="1303020" cy="55245"/>
            <a:chOff x="0" y="0"/>
            <a:chExt cx="1737360" cy="73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6598" cy="72771"/>
            </a:xfrm>
            <a:custGeom>
              <a:avLst/>
              <a:gdLst/>
              <a:ahLst/>
              <a:cxnLst/>
              <a:rect r="r" b="b" t="t" l="l"/>
              <a:pathLst>
                <a:path h="72771" w="1736598">
                  <a:moveTo>
                    <a:pt x="1736598" y="0"/>
                  </a:moveTo>
                  <a:lnTo>
                    <a:pt x="0" y="0"/>
                  </a:lnTo>
                  <a:lnTo>
                    <a:pt x="0" y="72771"/>
                  </a:lnTo>
                  <a:lnTo>
                    <a:pt x="868299" y="72771"/>
                  </a:lnTo>
                  <a:lnTo>
                    <a:pt x="1736598" y="72771"/>
                  </a:lnTo>
                  <a:lnTo>
                    <a:pt x="1736598" y="0"/>
                  </a:lnTo>
                  <a:close/>
                </a:path>
              </a:pathLst>
            </a:custGeom>
            <a:solidFill>
              <a:srgbClr val="346F9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5950" y="870518"/>
            <a:ext cx="6299835" cy="26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43">
                <a:solidFill>
                  <a:srgbClr val="56667F"/>
                </a:solidFill>
                <a:latin typeface="Tomorrow"/>
                <a:ea typeface="Tomorrow"/>
                <a:cs typeface="Tomorrow"/>
                <a:sym typeface="Tomorrow"/>
              </a:rPr>
              <a:t>The pipeline that buffers, normalizes and enriches incoming events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68802" y="384896"/>
            <a:ext cx="1390498" cy="485623"/>
          </a:xfrm>
          <a:custGeom>
            <a:avLst/>
            <a:gdLst/>
            <a:ahLst/>
            <a:cxnLst/>
            <a:rect r="r" b="b" t="t" l="l"/>
            <a:pathLst>
              <a:path h="485623" w="1390498">
                <a:moveTo>
                  <a:pt x="0" y="0"/>
                </a:moveTo>
                <a:lnTo>
                  <a:pt x="1390498" y="0"/>
                </a:lnTo>
                <a:lnTo>
                  <a:pt x="1390498" y="485622"/>
                </a:lnTo>
                <a:lnTo>
                  <a:pt x="0" y="48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61703" y="510940"/>
            <a:ext cx="1002030" cy="22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20">
                <a:solidFill>
                  <a:srgbClr val="346F9D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14650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2871" y="2036845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868" y="1829276"/>
            <a:ext cx="1499235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5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Logstash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9016" y="2632539"/>
            <a:ext cx="5184458" cy="16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Receives events, parses source-specific formats and normalizes fields before indexing.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also performs routing and enrichment, including GeoIP and threat-intelligence context where configured.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74657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3431" y="2036845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5876" y="1829276"/>
            <a:ext cx="971550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71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9042" y="2632539"/>
            <a:ext cx="5066347" cy="16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Provides a durable buffer between the Logstash ingest and indexer pipelines.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absorbs traffic bursts and reduces the risk of log loss if Elasticsearch is slow or temporarily unavailable.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14650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2871" y="5918359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868" y="5710809"/>
            <a:ext cx="1769745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8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49016" y="6514090"/>
            <a:ext cx="5127308" cy="133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28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Coordinates Kafka broker metadata and topic state for the Kafka version used in the lab.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supports broker registration and leadership coordination in the single-node messaging setup.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74657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23431" y="5918359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477" y="9828009"/>
            <a:ext cx="3910012" cy="24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6">
                <a:solidFill>
                  <a:srgbClr val="56667F"/>
                </a:solidFill>
                <a:latin typeface="Tomorrow"/>
                <a:ea typeface="Tomorrow"/>
                <a:cs typeface="Tomorrow"/>
                <a:sym typeface="Tomorrow"/>
              </a:rPr>
              <a:t>Elastic ThreatOps Platform | Technology rationale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876" y="5710809"/>
            <a:ext cx="2451735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9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ECS-style fields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9042" y="6514090"/>
            <a:ext cx="4807268" cy="16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Maps different log sources into consistent fields such as source.ip and event.category.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This common structure makes searches, dashboards and detection rules reusable across multiple technologies.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282264" y="120234"/>
            <a:ext cx="8264843" cy="63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26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Technology Stack — Storage &amp; SOC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866" y="987114"/>
            <a:ext cx="1303020" cy="55245"/>
            <a:chOff x="0" y="0"/>
            <a:chExt cx="1737360" cy="73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6598" cy="72771"/>
            </a:xfrm>
            <a:custGeom>
              <a:avLst/>
              <a:gdLst/>
              <a:ahLst/>
              <a:cxnLst/>
              <a:rect r="r" b="b" t="t" l="l"/>
              <a:pathLst>
                <a:path h="72771" w="1736598">
                  <a:moveTo>
                    <a:pt x="1736598" y="0"/>
                  </a:moveTo>
                  <a:lnTo>
                    <a:pt x="0" y="0"/>
                  </a:lnTo>
                  <a:lnTo>
                    <a:pt x="0" y="72771"/>
                  </a:lnTo>
                  <a:lnTo>
                    <a:pt x="868299" y="72771"/>
                  </a:lnTo>
                  <a:lnTo>
                    <a:pt x="1736598" y="72771"/>
                  </a:lnTo>
                  <a:lnTo>
                    <a:pt x="1736598" y="0"/>
                  </a:lnTo>
                  <a:close/>
                </a:path>
              </a:pathLst>
            </a:custGeom>
            <a:solidFill>
              <a:srgbClr val="30835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5950" y="870518"/>
            <a:ext cx="6704647" cy="26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35">
                <a:solidFill>
                  <a:srgbClr val="56667F"/>
                </a:solidFill>
                <a:latin typeface="Tomorrow"/>
                <a:ea typeface="Tomorrow"/>
                <a:cs typeface="Tomorrow"/>
                <a:sym typeface="Tomorrow"/>
              </a:rPr>
              <a:t>Search, investigation and detection capabilities used by the SOC analyst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68802" y="158334"/>
            <a:ext cx="1390498" cy="485623"/>
          </a:xfrm>
          <a:custGeom>
            <a:avLst/>
            <a:gdLst/>
            <a:ahLst/>
            <a:cxnLst/>
            <a:rect r="r" b="b" t="t" l="l"/>
            <a:pathLst>
              <a:path h="485623" w="1390498">
                <a:moveTo>
                  <a:pt x="0" y="0"/>
                </a:moveTo>
                <a:lnTo>
                  <a:pt x="1390498" y="0"/>
                </a:lnTo>
                <a:lnTo>
                  <a:pt x="13904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40845" y="291608"/>
            <a:ext cx="104641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65">
                <a:solidFill>
                  <a:srgbClr val="30835E"/>
                </a:solidFill>
                <a:latin typeface="Arial"/>
                <a:ea typeface="Arial"/>
                <a:cs typeface="Arial"/>
                <a:sym typeface="Arial"/>
              </a:rPr>
              <a:t>STORAGE &amp; SOC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14650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2871" y="2036845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868" y="1829276"/>
            <a:ext cx="3163252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210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Elasticsearch 8.11.4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9016" y="2632539"/>
            <a:ext cx="4891088" cy="16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28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Indexes and stores normalized security events in source-specific soc-* indices.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Its search and aggregation engine supports fast investigation, dashboards and detection-rule queries.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74657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3431" y="2036845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5876" y="1829276"/>
            <a:ext cx="2567940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4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Kibana Security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9042" y="2632539"/>
            <a:ext cx="4927282" cy="133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Provides the analyst interface for detection rules, alerts and security investigations.</a:t>
            </a:r>
          </a:p>
          <a:p>
            <a:pPr algn="l">
              <a:lnSpc>
                <a:spcPts val="2215"/>
              </a:lnSpc>
            </a:pPr>
            <a:r>
              <a:rPr lang="en-US" sz="1650" spc="-35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centralizes alert review, execution status and event context for SOC monitoring.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14650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2871" y="5918359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868" y="5710809"/>
            <a:ext cx="1423035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65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49016" y="6514090"/>
            <a:ext cx="5156835" cy="133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Enables ad-hoc searches across raw indexed events using KQL and time filters.</a:t>
            </a:r>
          </a:p>
          <a:p>
            <a:pPr algn="l">
              <a:lnSpc>
                <a:spcPts val="2215"/>
              </a:lnSpc>
            </a:pPr>
            <a:r>
              <a:rPr lang="en-US" sz="1650" spc="-28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is used to verify ingestion, inspect fields and troubleshoot missing data before tuning a rule.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74657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23431" y="5918359"/>
            <a:ext cx="1581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477" y="9828009"/>
            <a:ext cx="3910012" cy="24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6">
                <a:solidFill>
                  <a:srgbClr val="56667F"/>
                </a:solidFill>
                <a:latin typeface="Tomorrow"/>
                <a:ea typeface="Tomorrow"/>
                <a:cs typeface="Tomorrow"/>
                <a:sym typeface="Tomorrow"/>
              </a:rPr>
              <a:t>Elastic ThreatOps Platform | Technology rationale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876" y="5710809"/>
            <a:ext cx="2810828" cy="42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4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Detection Engine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9042" y="6514090"/>
            <a:ext cx="5148262" cy="16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Runs query and threshold rules continuously against incoming security events.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Tomorrow"/>
                <a:ea typeface="Tomorrow"/>
                <a:cs typeface="Tomorrow"/>
                <a:sym typeface="Tomorrow"/>
              </a:rPr>
              <a:t>It generates alerts for activities such as brute force, port scans, DNS spikes, cloud changes and IOC matches.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282264" y="120234"/>
            <a:ext cx="825356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50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Technology Stack — Identity &amp; Intelligence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1866" y="987114"/>
            <a:ext cx="1303020" cy="55245"/>
            <a:chOff x="0" y="0"/>
            <a:chExt cx="1737360" cy="73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6598" cy="72771"/>
            </a:xfrm>
            <a:custGeom>
              <a:avLst/>
              <a:gdLst/>
              <a:ahLst/>
              <a:cxnLst/>
              <a:rect r="r" b="b" t="t" l="l"/>
              <a:pathLst>
                <a:path h="72771" w="1736598">
                  <a:moveTo>
                    <a:pt x="1736598" y="0"/>
                  </a:moveTo>
                  <a:lnTo>
                    <a:pt x="0" y="0"/>
                  </a:lnTo>
                  <a:lnTo>
                    <a:pt x="0" y="72771"/>
                  </a:lnTo>
                  <a:lnTo>
                    <a:pt x="868299" y="72771"/>
                  </a:lnTo>
                  <a:lnTo>
                    <a:pt x="1736598" y="72771"/>
                  </a:lnTo>
                  <a:lnTo>
                    <a:pt x="1736598" y="0"/>
                  </a:lnTo>
                  <a:close/>
                </a:path>
              </a:pathLst>
            </a:custGeom>
            <a:solidFill>
              <a:srgbClr val="C43E3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5950" y="860993"/>
            <a:ext cx="809529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3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Centralized authentication and external threat context for higher-confidence detection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68802" y="384896"/>
            <a:ext cx="1390498" cy="485623"/>
          </a:xfrm>
          <a:custGeom>
            <a:avLst/>
            <a:gdLst/>
            <a:ahLst/>
            <a:cxnLst/>
            <a:rect r="r" b="b" t="t" l="l"/>
            <a:pathLst>
              <a:path h="485623" w="1390498">
                <a:moveTo>
                  <a:pt x="0" y="0"/>
                </a:moveTo>
                <a:lnTo>
                  <a:pt x="1390498" y="0"/>
                </a:lnTo>
                <a:lnTo>
                  <a:pt x="1390498" y="485622"/>
                </a:lnTo>
                <a:lnTo>
                  <a:pt x="0" y="48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990665" y="438212"/>
            <a:ext cx="11467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12">
                <a:solidFill>
                  <a:srgbClr val="C43E39"/>
                </a:solidFill>
                <a:latin typeface="Arial"/>
                <a:ea typeface="Arial"/>
                <a:cs typeface="Arial"/>
                <a:sym typeface="Arial"/>
              </a:rPr>
              <a:t>IDENTITY &amp; INTEL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14174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2395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5392" y="1829276"/>
            <a:ext cx="280615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49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Windows Server 2022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8539" y="2613489"/>
            <a:ext cx="5075872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1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Hosts the KPK-DC01 domain controller used as the identity and DNS backbone of the lab.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It provides the Windows platform for AD DS administration, directory objects and domain services.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74181" y="1587846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955" y="2036845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5400" y="1829276"/>
            <a:ext cx="312926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4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AD DS / DNS / Kerberos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8566" y="2613489"/>
            <a:ext cx="5074920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28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AD DS manages users, groups, computers and service accounts, while DNS resolves lab hosts and services.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Kerberos provides ticket-based domain authentication for the Windows server and joined Linux systems.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14174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2395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392" y="5710809"/>
            <a:ext cx="200560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82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SSSD / realmd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48539" y="6495040"/>
            <a:ext cx="4842510" cy="139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28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Joins Ubuntu hosts to the kpk.local domain and resolves Active Directory identities on Linux.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PAM and NSS integration enables domain logins and supports future group-based authorization policies.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74181" y="5469379"/>
            <a:ext cx="5999645" cy="3229775"/>
          </a:xfrm>
          <a:custGeom>
            <a:avLst/>
            <a:gdLst/>
            <a:ahLst/>
            <a:cxnLst/>
            <a:rect r="r" b="b" t="t" l="l"/>
            <a:pathLst>
              <a:path h="3229775" w="5999645">
                <a:moveTo>
                  <a:pt x="0" y="0"/>
                </a:moveTo>
                <a:lnTo>
                  <a:pt x="5999645" y="0"/>
                </a:lnTo>
                <a:lnTo>
                  <a:pt x="5999645" y="3229775"/>
                </a:lnTo>
                <a:lnTo>
                  <a:pt x="0" y="32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22955" y="5918359"/>
            <a:ext cx="1581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477" y="9818484"/>
            <a:ext cx="391001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36">
                <a:solidFill>
                  <a:srgbClr val="56667F"/>
                </a:solidFill>
                <a:latin typeface="Arial"/>
                <a:ea typeface="Arial"/>
                <a:cs typeface="Arial"/>
                <a:sym typeface="Arial"/>
              </a:rPr>
              <a:t>Elastic ThreatOps Platform | Technology rationale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400" y="5710809"/>
            <a:ext cx="71184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spc="-157">
                <a:solidFill>
                  <a:srgbClr val="1A3E6D"/>
                </a:solidFill>
                <a:latin typeface="Arial"/>
                <a:ea typeface="Arial"/>
                <a:cs typeface="Arial"/>
                <a:sym typeface="Arial"/>
              </a:rPr>
              <a:t>MISP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8566" y="6495040"/>
            <a:ext cx="5213985" cy="112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Stores and shares indicators of compromise such as malicious IPs, domains and hashes.</a:t>
            </a:r>
          </a:p>
          <a:p>
            <a:pPr algn="l">
              <a:lnSpc>
                <a:spcPts val="2215"/>
              </a:lnSpc>
            </a:pPr>
            <a:r>
              <a:rPr lang="en-US" sz="1650" spc="-13">
                <a:solidFill>
                  <a:srgbClr val="2F3B4D"/>
                </a:solidFill>
                <a:latin typeface="Arial"/>
                <a:ea typeface="Arial"/>
                <a:cs typeface="Arial"/>
                <a:sym typeface="Arial"/>
              </a:rPr>
              <a:t>Matching events against MISP indicators adds threat context and increases the confidence of SOC alerts.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492833"/>
            <a:ext cx="413295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217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End-to-End Data 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380809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How a raw event becomes a searchable alert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90322" y="582082"/>
            <a:ext cx="73056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8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07863" y="3004290"/>
            <a:ext cx="1837163" cy="1878120"/>
          </a:xfrm>
          <a:custGeom>
            <a:avLst/>
            <a:gdLst/>
            <a:ahLst/>
            <a:cxnLst/>
            <a:rect r="r" b="b" t="t" l="l"/>
            <a:pathLst>
              <a:path h="1878120" w="1837163">
                <a:moveTo>
                  <a:pt x="0" y="0"/>
                </a:moveTo>
                <a:lnTo>
                  <a:pt x="1837163" y="0"/>
                </a:lnTo>
                <a:lnTo>
                  <a:pt x="1837163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2604" y="3368221"/>
            <a:ext cx="80581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3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450" y="4001938"/>
            <a:ext cx="129730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1200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Linux • Windows • Web • IDS • AWS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1984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06464" y="3368221"/>
            <a:ext cx="1027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0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Collectors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50305" y="4087044"/>
            <a:ext cx="114109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Beats • Suricata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51440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77618" y="3368221"/>
            <a:ext cx="6753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27688" y="4087044"/>
            <a:ext cx="137541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Logstash 01-ingest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0896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677569" y="3368221"/>
            <a:ext cx="66294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5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11345" y="4087044"/>
            <a:ext cx="119634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Kafka topic: logs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90352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01930" y="3368221"/>
            <a:ext cx="8039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Indexer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9831" y="4087044"/>
            <a:ext cx="146970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Logstash 02-indexer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09808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994871" y="3368221"/>
            <a:ext cx="80676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9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29529" y="4087044"/>
            <a:ext cx="93821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soc-* indices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9264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088447" y="3368221"/>
            <a:ext cx="10096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8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35424" y="4087044"/>
            <a:ext cx="91725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Kibana rules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487202" y="3004290"/>
            <a:ext cx="2219744" cy="1878120"/>
          </a:xfrm>
          <a:custGeom>
            <a:avLst/>
            <a:gdLst/>
            <a:ahLst/>
            <a:cxnLst/>
            <a:rect r="r" b="b" t="t" l="l"/>
            <a:pathLst>
              <a:path h="1878120" w="2219744">
                <a:moveTo>
                  <a:pt x="0" y="0"/>
                </a:moveTo>
                <a:lnTo>
                  <a:pt x="2219744" y="0"/>
                </a:lnTo>
                <a:lnTo>
                  <a:pt x="2219744" y="1878120"/>
                </a:lnTo>
                <a:lnTo>
                  <a:pt x="0" y="1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296513" y="3368221"/>
            <a:ext cx="98107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2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23710" y="4087044"/>
            <a:ext cx="132873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Alert investigation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87831" y="6053138"/>
            <a:ext cx="15998038" cy="1596238"/>
          </a:xfrm>
          <a:custGeom>
            <a:avLst/>
            <a:gdLst/>
            <a:ahLst/>
            <a:cxnLst/>
            <a:rect r="r" b="b" t="t" l="l"/>
            <a:pathLst>
              <a:path h="1596238" w="15998038">
                <a:moveTo>
                  <a:pt x="0" y="0"/>
                </a:moveTo>
                <a:lnTo>
                  <a:pt x="15998038" y="0"/>
                </a:lnTo>
                <a:lnTo>
                  <a:pt x="15998038" y="1596237"/>
                </a:lnTo>
                <a:lnTo>
                  <a:pt x="0" y="15962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25512" y="6371025"/>
            <a:ext cx="461200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00">
                <a:solidFill>
                  <a:srgbClr val="B8D1E4"/>
                </a:solidFill>
                <a:latin typeface="Arial"/>
                <a:ea typeface="Arial"/>
                <a:cs typeface="Arial"/>
                <a:sym typeface="Arial"/>
              </a:rPr>
              <a:t>Key routing outcomes </a:t>
            </a:r>
            <a:r>
              <a:rPr lang="en-US" sz="1950" spc="-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ˢᵒᶜ⁻ˢʸˢᵗᵉᵐ.ᵃᵘᵗʰ⁻*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37691" y="6437700"/>
            <a:ext cx="976217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0512" indent="-145256" lvl="1">
              <a:lnSpc>
                <a:spcPts val="1800"/>
              </a:lnSpc>
              <a:buFont typeface="Arial"/>
              <a:buChar char="•"/>
            </a:pPr>
            <a:r>
              <a:rPr lang="en-US" sz="1500" spc="-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soc-nginx.access-* • soc-suricata.* • soc-dns.query-* • soc-file-* • soc-cicd.pipeline-* • soc-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32910" y="6670967"/>
            <a:ext cx="30489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aws.cloudtrail-* • soc-failed-*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7237" y="8448284"/>
            <a:ext cx="125158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Kafka decouples ingestion from indexing, allowing temporary downstream issues without immediately losing incoming events.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73402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12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SOC-Core Implementation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0520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Validated Elastic and messaging services running in Docker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33528" y="582082"/>
            <a:ext cx="64484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35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ELASTIC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6149" y="1846269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6149" y="2545556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6149" y="3245396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6149" y="3944703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86149" y="4644542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6149" y="5343849"/>
            <a:ext cx="16468915" cy="599313"/>
          </a:xfrm>
          <a:custGeom>
            <a:avLst/>
            <a:gdLst/>
            <a:ahLst/>
            <a:cxnLst/>
            <a:rect r="r" b="b" t="t" l="l"/>
            <a:pathLst>
              <a:path h="599313" w="16468915">
                <a:moveTo>
                  <a:pt x="0" y="0"/>
                </a:moveTo>
                <a:lnTo>
                  <a:pt x="16468915" y="0"/>
                </a:lnTo>
                <a:lnTo>
                  <a:pt x="16468915" y="599313"/>
                </a:lnTo>
                <a:lnTo>
                  <a:pt x="0" y="5993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814741"/>
            <a:ext cx="16725900" cy="398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Elasticsearch ⁸.¹¹.⁴	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Central storage and detection-rule backend; soc-* indices verified</a:t>
            </a: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Kibana ⁸.¹¹.⁴	            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Discover, dashboards, Security Rules, Alerts and execution results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Logstash ⁸.¹¹.⁴	        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Ingest and indexer pipelines operational; persisted queue enabled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Kafka ⁷.⁵.⁰	            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Topic logs created; consumer group logstash verified with zero lag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ZooKeeper ⁷.⁵.⁰	    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Kafka coordination service</a:t>
            </a:r>
          </a:p>
          <a:p>
            <a:pPr algn="just">
              <a:lnSpc>
                <a:spcPts val="2904"/>
              </a:lnSpc>
            </a:pPr>
          </a:p>
          <a:p>
            <a:pPr algn="just">
              <a:lnSpc>
                <a:spcPts val="2904"/>
              </a:lnSpc>
            </a:pPr>
            <a:r>
              <a:rPr lang="en-US" sz="2074" spc="-2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Filebeat                                                           </a:t>
            </a:r>
            <a:r>
              <a:rPr lang="en-US" sz="2074" spc="-2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WORKING	         </a:t>
            </a:r>
            <a:r>
              <a:rPr lang="en-US" sz="2074" spc="-22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Endpoint, web, file and AWS telemetry delivered to Logstash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18718" y="6505651"/>
            <a:ext cx="7837018" cy="1733398"/>
          </a:xfrm>
          <a:custGeom>
            <a:avLst/>
            <a:gdLst/>
            <a:ahLst/>
            <a:cxnLst/>
            <a:rect r="r" b="b" t="t" l="l"/>
            <a:pathLst>
              <a:path h="1733398" w="7837018">
                <a:moveTo>
                  <a:pt x="0" y="0"/>
                </a:moveTo>
                <a:lnTo>
                  <a:pt x="7837017" y="0"/>
                </a:lnTo>
                <a:lnTo>
                  <a:pt x="7837017" y="1733398"/>
                </a:lnTo>
                <a:lnTo>
                  <a:pt x="0" y="17333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1130" y="6878507"/>
            <a:ext cx="20640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8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Health checks used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90010" y="6780762"/>
            <a:ext cx="18811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docker compose ps</a:t>
            </a:r>
          </a:p>
          <a:p>
            <a:pPr algn="l">
              <a:lnSpc>
                <a:spcPts val="1709"/>
              </a:lnSpc>
            </a:pPr>
            <a:r>
              <a:rPr lang="en-US" sz="1425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/_cat/indices</a:t>
            </a:r>
          </a:p>
          <a:p>
            <a:pPr algn="l">
              <a:lnSpc>
                <a:spcPts val="1709"/>
              </a:lnSpc>
            </a:pPr>
            <a:r>
              <a:rPr lang="en-US" sz="1425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/_node/pipelines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316898" y="6505651"/>
            <a:ext cx="7837018" cy="1733398"/>
          </a:xfrm>
          <a:custGeom>
            <a:avLst/>
            <a:gdLst/>
            <a:ahLst/>
            <a:cxnLst/>
            <a:rect r="r" b="b" t="t" l="l"/>
            <a:pathLst>
              <a:path h="1733398" w="7837018">
                <a:moveTo>
                  <a:pt x="0" y="0"/>
                </a:moveTo>
                <a:lnTo>
                  <a:pt x="7837017" y="0"/>
                </a:lnTo>
                <a:lnTo>
                  <a:pt x="7837017" y="1733398"/>
                </a:lnTo>
                <a:lnTo>
                  <a:pt x="0" y="17333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19310" y="6878507"/>
            <a:ext cx="19621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75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Operational result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94463" y="6846008"/>
            <a:ext cx="3999547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Events searchable in Kibana and eligible for scheduled detection rules.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73402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7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Active Directory &amp; Identity Integration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6235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4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Centralized identity, DNS and Linux authentication for the SOC lab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79521" y="582082"/>
            <a:ext cx="75152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97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1558" y="1841678"/>
            <a:ext cx="4133698" cy="2762098"/>
          </a:xfrm>
          <a:custGeom>
            <a:avLst/>
            <a:gdLst/>
            <a:ahLst/>
            <a:cxnLst/>
            <a:rect r="r" b="b" t="t" l="l"/>
            <a:pathLst>
              <a:path h="2762098" w="4133698">
                <a:moveTo>
                  <a:pt x="0" y="0"/>
                </a:moveTo>
                <a:lnTo>
                  <a:pt x="4133697" y="0"/>
                </a:lnTo>
                <a:lnTo>
                  <a:pt x="4133697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4356" y="2116236"/>
            <a:ext cx="275939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Domain Services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Domain: kpk.local Controller: KPK-DC01 Windows Server 2022</a:t>
            </a:r>
          </a:p>
          <a:p>
            <a:pPr algn="l">
              <a:lnSpc>
                <a:spcPts val="1800"/>
              </a:lnSpc>
            </a:pPr>
            <a:r>
              <a:rPr lang="en-US" sz="1500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AD DS + DNS + Global Catalog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39258" y="1841678"/>
            <a:ext cx="4133698" cy="2762098"/>
          </a:xfrm>
          <a:custGeom>
            <a:avLst/>
            <a:gdLst/>
            <a:ahLst/>
            <a:cxnLst/>
            <a:rect r="r" b="b" t="t" l="l"/>
            <a:pathLst>
              <a:path h="2762098" w="4133698">
                <a:moveTo>
                  <a:pt x="0" y="0"/>
                </a:moveTo>
                <a:lnTo>
                  <a:pt x="4133697" y="0"/>
                </a:lnTo>
                <a:lnTo>
                  <a:pt x="4133697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32056" y="2116236"/>
            <a:ext cx="3602355" cy="129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0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Directory Design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Custom OUs for Servers, Linux Servers, Groups, Service Accounts and SOC Users.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797491" y="1841678"/>
            <a:ext cx="3653638" cy="2762098"/>
          </a:xfrm>
          <a:custGeom>
            <a:avLst/>
            <a:gdLst/>
            <a:ahLst/>
            <a:cxnLst/>
            <a:rect r="r" b="b" t="t" l="l"/>
            <a:pathLst>
              <a:path h="2762098" w="3653638">
                <a:moveTo>
                  <a:pt x="0" y="0"/>
                </a:moveTo>
                <a:lnTo>
                  <a:pt x="3653638" y="0"/>
                </a:lnTo>
                <a:lnTo>
                  <a:pt x="3653638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089204" y="2116236"/>
            <a:ext cx="3007330" cy="129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3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Security Groups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SOC-Admins SOC-Analysts ThreatIntel IR-Team</a:t>
            </a:r>
          </a:p>
          <a:p>
            <a:pPr algn="l">
              <a:lnSpc>
                <a:spcPts val="1836"/>
              </a:lnSpc>
            </a:pPr>
            <a:r>
              <a:rPr lang="en-US" sz="1500" spc="-5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ELK-Admins MISP-Users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775131" y="1841678"/>
            <a:ext cx="3653638" cy="2762098"/>
          </a:xfrm>
          <a:custGeom>
            <a:avLst/>
            <a:gdLst/>
            <a:ahLst/>
            <a:cxnLst/>
            <a:rect r="r" b="b" t="t" l="l"/>
            <a:pathLst>
              <a:path h="2762098" w="3653638">
                <a:moveTo>
                  <a:pt x="0" y="0"/>
                </a:moveTo>
                <a:lnTo>
                  <a:pt x="3653638" y="0"/>
                </a:lnTo>
                <a:lnTo>
                  <a:pt x="3653638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066844" y="2116236"/>
            <a:ext cx="2118360" cy="10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3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Service Accounts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1836"/>
              </a:lnSpc>
            </a:pPr>
            <a:r>
              <a:rPr lang="en-US" sz="1500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svc-misp svc-logstash svc-kibana svc-suricata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9117" y="5215842"/>
            <a:ext cx="35785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60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Linux domain-join validation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2499" y="5891679"/>
            <a:ext cx="9886855" cy="601885"/>
          </a:xfrm>
          <a:custGeom>
            <a:avLst/>
            <a:gdLst/>
            <a:ahLst/>
            <a:cxnLst/>
            <a:rect r="r" b="b" t="t" l="l"/>
            <a:pathLst>
              <a:path h="601885" w="9886855">
                <a:moveTo>
                  <a:pt x="0" y="0"/>
                </a:moveTo>
                <a:lnTo>
                  <a:pt x="9886855" y="0"/>
                </a:lnTo>
                <a:lnTo>
                  <a:pt x="9886855" y="601885"/>
                </a:lnTo>
                <a:lnTo>
                  <a:pt x="0" y="60188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83437" y="6024763"/>
            <a:ext cx="8667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7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SOC-Core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762451" y="5964041"/>
            <a:ext cx="1596238" cy="458000"/>
          </a:xfrm>
          <a:custGeom>
            <a:avLst/>
            <a:gdLst/>
            <a:ahLst/>
            <a:cxnLst/>
            <a:rect r="r" b="b" t="t" l="l"/>
            <a:pathLst>
              <a:path h="458000" w="1596238">
                <a:moveTo>
                  <a:pt x="0" y="0"/>
                </a:moveTo>
                <a:lnTo>
                  <a:pt x="1596238" y="0"/>
                </a:lnTo>
                <a:lnTo>
                  <a:pt x="1596238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138955" y="6034478"/>
            <a:ext cx="84010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27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73090" y="6036040"/>
            <a:ext cx="21336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5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Kerberos kinit/klist verified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499" y="6687093"/>
            <a:ext cx="9886855" cy="601885"/>
          </a:xfrm>
          <a:custGeom>
            <a:avLst/>
            <a:gdLst/>
            <a:ahLst/>
            <a:cxnLst/>
            <a:rect r="r" b="b" t="t" l="l"/>
            <a:pathLst>
              <a:path h="601885" w="9886855">
                <a:moveTo>
                  <a:pt x="0" y="0"/>
                </a:moveTo>
                <a:lnTo>
                  <a:pt x="9886855" y="0"/>
                </a:lnTo>
                <a:lnTo>
                  <a:pt x="9886855" y="601885"/>
                </a:lnTo>
                <a:lnTo>
                  <a:pt x="0" y="6018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83437" y="6820176"/>
            <a:ext cx="110204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8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VM-MISP-01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762451" y="6759454"/>
            <a:ext cx="1596238" cy="458000"/>
          </a:xfrm>
          <a:custGeom>
            <a:avLst/>
            <a:gdLst/>
            <a:ahLst/>
            <a:cxnLst/>
            <a:rect r="r" b="b" t="t" l="l"/>
            <a:pathLst>
              <a:path h="458000" w="1596238">
                <a:moveTo>
                  <a:pt x="0" y="0"/>
                </a:moveTo>
                <a:lnTo>
                  <a:pt x="1596238" y="0"/>
                </a:lnTo>
                <a:lnTo>
                  <a:pt x="1596238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138955" y="6829892"/>
            <a:ext cx="84010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27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73090" y="6831473"/>
            <a:ext cx="149828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SSSD login verified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22499" y="7482507"/>
            <a:ext cx="9886855" cy="601885"/>
          </a:xfrm>
          <a:custGeom>
            <a:avLst/>
            <a:gdLst/>
            <a:ahLst/>
            <a:cxnLst/>
            <a:rect r="r" b="b" t="t" l="l"/>
            <a:pathLst>
              <a:path h="601885" w="9886855">
                <a:moveTo>
                  <a:pt x="0" y="0"/>
                </a:moveTo>
                <a:lnTo>
                  <a:pt x="9886855" y="0"/>
                </a:lnTo>
                <a:lnTo>
                  <a:pt x="9886855" y="601884"/>
                </a:lnTo>
                <a:lnTo>
                  <a:pt x="0" y="60188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83437" y="7615590"/>
            <a:ext cx="95154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9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VM-IDS-01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762451" y="7554868"/>
            <a:ext cx="1596238" cy="458000"/>
          </a:xfrm>
          <a:custGeom>
            <a:avLst/>
            <a:gdLst/>
            <a:ahLst/>
            <a:cxnLst/>
            <a:rect r="r" b="b" t="t" l="l"/>
            <a:pathLst>
              <a:path h="458000" w="1596238">
                <a:moveTo>
                  <a:pt x="0" y="0"/>
                </a:moveTo>
                <a:lnTo>
                  <a:pt x="1596238" y="0"/>
                </a:lnTo>
                <a:lnTo>
                  <a:pt x="1596238" y="458000"/>
                </a:lnTo>
                <a:lnTo>
                  <a:pt x="0" y="4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138955" y="7625858"/>
            <a:ext cx="84010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27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673090" y="7626887"/>
            <a:ext cx="235458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Kerberos ticket auto-acquired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442878" y="5778818"/>
            <a:ext cx="5505298" cy="2556358"/>
          </a:xfrm>
          <a:custGeom>
            <a:avLst/>
            <a:gdLst/>
            <a:ahLst/>
            <a:cxnLst/>
            <a:rect r="r" b="b" t="t" l="l"/>
            <a:pathLst>
              <a:path h="2556358" w="5505298">
                <a:moveTo>
                  <a:pt x="0" y="0"/>
                </a:moveTo>
                <a:lnTo>
                  <a:pt x="5505297" y="0"/>
                </a:lnTo>
                <a:lnTo>
                  <a:pt x="5505297" y="2556357"/>
                </a:lnTo>
                <a:lnTo>
                  <a:pt x="0" y="25563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845290" y="6192707"/>
            <a:ext cx="17659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82">
                <a:solidFill>
                  <a:srgbClr val="F49D0A"/>
                </a:solidFill>
                <a:latin typeface="Arial"/>
                <a:ea typeface="Arial"/>
                <a:cs typeface="Arial"/>
                <a:sym typeface="Arial"/>
              </a:rPr>
              <a:t>Verified controls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45823" y="6914131"/>
            <a:ext cx="36052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0031" indent="-125016" lvl="1">
              <a:lnSpc>
                <a:spcPts val="1620"/>
              </a:lnSpc>
              <a:buFont typeface="Arial"/>
              <a:buChar char="•"/>
            </a:pPr>
            <a:r>
              <a:rPr lang="en-US" sz="13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Forward and reverse DNS</a:t>
            </a:r>
          </a:p>
          <a:p>
            <a:pPr algn="l" marL="250031" indent="-125016" lvl="1">
              <a:lnSpc>
                <a:spcPts val="1620"/>
              </a:lnSpc>
              <a:buFont typeface="Arial"/>
              <a:buChar char="•"/>
            </a:pPr>
            <a:r>
              <a:rPr lang="en-US" sz="13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LDAP and Kerberos SRV records</a:t>
            </a:r>
          </a:p>
          <a:p>
            <a:pPr algn="l" marL="250031" indent="-125016" lvl="1">
              <a:lnSpc>
                <a:spcPts val="1620"/>
              </a:lnSpc>
              <a:buFont typeface="Arial"/>
              <a:buChar char="•"/>
            </a:pPr>
            <a:r>
              <a:rPr lang="en-US" sz="1350" spc="-1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Identity resolution with id / getent</a:t>
            </a:r>
          </a:p>
          <a:p>
            <a:pPr algn="l" marL="250031" indent="-125016" lvl="1">
              <a:lnSpc>
                <a:spcPts val="1620"/>
              </a:lnSpc>
              <a:buFont typeface="Arial"/>
              <a:buChar char="•"/>
            </a:pPr>
            <a:r>
              <a:rPr lang="en-US" sz="1350" spc="-2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Non-privileged user denied sudo by design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82927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849" spc="-246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AWS CloudTrail Monitoring Pipeline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471392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1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Free-tier-conscious event delivery from AWS into Elastic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71221" y="582082"/>
            <a:ext cx="36957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spc="-113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63213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4" y="0"/>
                </a:lnTo>
                <a:lnTo>
                  <a:pt x="2014614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0383" y="2808551"/>
            <a:ext cx="98012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6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CloudTrail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350" y="3422952"/>
            <a:ext cx="900112" cy="35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"/>
              </a:lnSpc>
            </a:pPr>
            <a:r>
              <a:rPr lang="en-US" sz="11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soc-cloudtrail Multi-region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52576" y="3235681"/>
            <a:ext cx="438312" cy="114300"/>
          </a:xfrm>
          <a:custGeom>
            <a:avLst/>
            <a:gdLst/>
            <a:ahLst/>
            <a:cxnLst/>
            <a:rect r="r" b="b" t="t" l="l"/>
            <a:pathLst>
              <a:path h="114300" w="438312">
                <a:moveTo>
                  <a:pt x="0" y="0"/>
                </a:moveTo>
                <a:lnTo>
                  <a:pt x="438312" y="0"/>
                </a:lnTo>
                <a:lnTo>
                  <a:pt x="438312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059640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3" y="0"/>
                </a:lnTo>
                <a:lnTo>
                  <a:pt x="2014613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91382" y="2808551"/>
            <a:ext cx="95059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7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S3 Bucket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717" y="3422952"/>
            <a:ext cx="1535430" cy="35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"/>
              </a:lnSpc>
            </a:pPr>
            <a:r>
              <a:rPr lang="en-US" sz="1149" spc="-4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aws-cloudtrail-logs-… AWSLogs/.../CloudTrail/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049002" y="3235681"/>
            <a:ext cx="438293" cy="114300"/>
          </a:xfrm>
          <a:custGeom>
            <a:avLst/>
            <a:gdLst/>
            <a:ahLst/>
            <a:cxnLst/>
            <a:rect r="r" b="b" t="t" l="l"/>
            <a:pathLst>
              <a:path h="114300" w="438293">
                <a:moveTo>
                  <a:pt x="0" y="0"/>
                </a:moveTo>
                <a:lnTo>
                  <a:pt x="438293" y="0"/>
                </a:lnTo>
                <a:lnTo>
                  <a:pt x="438293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55513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4" y="0"/>
                </a:lnTo>
                <a:lnTo>
                  <a:pt x="2014614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852903" y="2808551"/>
            <a:ext cx="14192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4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S3 Notification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02687" y="3518268"/>
            <a:ext cx="152114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149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All object create events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545429" y="3235681"/>
            <a:ext cx="437759" cy="114300"/>
          </a:xfrm>
          <a:custGeom>
            <a:avLst/>
            <a:gdLst/>
            <a:ahLst/>
            <a:cxnLst/>
            <a:rect r="r" b="b" t="t" l="l"/>
            <a:pathLst>
              <a:path h="114300" w="437759">
                <a:moveTo>
                  <a:pt x="0" y="0"/>
                </a:moveTo>
                <a:lnTo>
                  <a:pt x="437759" y="0"/>
                </a:lnTo>
                <a:lnTo>
                  <a:pt x="437759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51940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3" y="0"/>
                </a:lnTo>
                <a:lnTo>
                  <a:pt x="2014613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529695" y="2808551"/>
            <a:ext cx="10582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1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SQS Queue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5387" y="3518268"/>
            <a:ext cx="110775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149" spc="-3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cloudtrail-events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041836" y="3235681"/>
            <a:ext cx="437759" cy="114300"/>
          </a:xfrm>
          <a:custGeom>
            <a:avLst/>
            <a:gdLst/>
            <a:ahLst/>
            <a:cxnLst/>
            <a:rect r="r" b="b" t="t" l="l"/>
            <a:pathLst>
              <a:path h="114300" w="437759">
                <a:moveTo>
                  <a:pt x="0" y="0"/>
                </a:moveTo>
                <a:lnTo>
                  <a:pt x="437760" y="0"/>
                </a:lnTo>
                <a:lnTo>
                  <a:pt x="43776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548366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4" y="0"/>
                </a:lnTo>
                <a:lnTo>
                  <a:pt x="2014614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160576" y="2808551"/>
            <a:ext cx="7896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6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Filebeat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12513" y="3518268"/>
            <a:ext cx="88677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14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AWS S3 input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538262" y="3235681"/>
            <a:ext cx="437759" cy="114300"/>
          </a:xfrm>
          <a:custGeom>
            <a:avLst/>
            <a:gdLst/>
            <a:ahLst/>
            <a:cxnLst/>
            <a:rect r="r" b="b" t="t" l="l"/>
            <a:pathLst>
              <a:path h="114300" w="437759">
                <a:moveTo>
                  <a:pt x="0" y="0"/>
                </a:moveTo>
                <a:lnTo>
                  <a:pt x="437760" y="0"/>
                </a:lnTo>
                <a:lnTo>
                  <a:pt x="43776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044773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4" y="0"/>
                </a:lnTo>
                <a:lnTo>
                  <a:pt x="2014614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253618" y="2808551"/>
            <a:ext cx="159543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8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Logstash / Kafka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28574" y="3518268"/>
            <a:ext cx="124587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14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Normalize + buffer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034136" y="3235681"/>
            <a:ext cx="438312" cy="114300"/>
          </a:xfrm>
          <a:custGeom>
            <a:avLst/>
            <a:gdLst/>
            <a:ahLst/>
            <a:cxnLst/>
            <a:rect r="r" b="b" t="t" l="l"/>
            <a:pathLst>
              <a:path h="114300" w="438312">
                <a:moveTo>
                  <a:pt x="0" y="0"/>
                </a:moveTo>
                <a:lnTo>
                  <a:pt x="438312" y="0"/>
                </a:lnTo>
                <a:lnTo>
                  <a:pt x="438312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541200" y="2387346"/>
            <a:ext cx="2014614" cy="1836496"/>
          </a:xfrm>
          <a:custGeom>
            <a:avLst/>
            <a:gdLst/>
            <a:ahLst/>
            <a:cxnLst/>
            <a:rect r="r" b="b" t="t" l="l"/>
            <a:pathLst>
              <a:path h="1836496" w="2014614">
                <a:moveTo>
                  <a:pt x="0" y="0"/>
                </a:moveTo>
                <a:lnTo>
                  <a:pt x="2014613" y="0"/>
                </a:lnTo>
                <a:lnTo>
                  <a:pt x="2014613" y="1836496"/>
                </a:lnTo>
                <a:lnTo>
                  <a:pt x="0" y="1836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919056" y="2808551"/>
            <a:ext cx="12582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 spc="-9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Elasticsearch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894748" y="3518268"/>
            <a:ext cx="130683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"/>
              </a:lnSpc>
            </a:pPr>
            <a:r>
              <a:rPr lang="en-US" sz="1149" spc="-3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soc-aws.cloudtrail-*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018718" y="4996358"/>
            <a:ext cx="7974178" cy="2762098"/>
          </a:xfrm>
          <a:custGeom>
            <a:avLst/>
            <a:gdLst/>
            <a:ahLst/>
            <a:cxnLst/>
            <a:rect r="r" b="b" t="t" l="l"/>
            <a:pathLst>
              <a:path h="2762098" w="7974178">
                <a:moveTo>
                  <a:pt x="0" y="0"/>
                </a:moveTo>
                <a:lnTo>
                  <a:pt x="7974177" y="0"/>
                </a:lnTo>
                <a:lnTo>
                  <a:pt x="7974177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20597" y="5436499"/>
            <a:ext cx="131730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87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IAM design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1663" y="6149750"/>
            <a:ext cx="5155882" cy="88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</a:pPr>
            <a:r>
              <a:rPr lang="en-US" sz="1449" spc="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Dedicated Filebeat IAM user No console access</a:t>
            </a:r>
          </a:p>
          <a:p>
            <a:pPr algn="l">
              <a:lnSpc>
                <a:spcPts val="1739"/>
              </a:lnSpc>
            </a:pPr>
            <a:r>
              <a:rPr lang="en-US" sz="1449" spc="-1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S3 read access</a:t>
            </a:r>
          </a:p>
          <a:p>
            <a:pPr algn="l">
              <a:lnSpc>
                <a:spcPts val="1781"/>
              </a:lnSpc>
            </a:pPr>
            <a:r>
              <a:rPr lang="en-US" sz="1449" spc="-1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SQS consumer permissions: ReceiveMessage, DeleteMessage, ChangeMessageVisibility, GetQueueAttributes, GetQueueUrl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386011" y="4996358"/>
            <a:ext cx="7905598" cy="2762098"/>
          </a:xfrm>
          <a:custGeom>
            <a:avLst/>
            <a:gdLst/>
            <a:ahLst/>
            <a:cxnLst/>
            <a:rect r="r" b="b" t="t" l="l"/>
            <a:pathLst>
              <a:path h="2762098" w="7905598">
                <a:moveTo>
                  <a:pt x="0" y="0"/>
                </a:moveTo>
                <a:lnTo>
                  <a:pt x="7905598" y="0"/>
                </a:lnTo>
                <a:lnTo>
                  <a:pt x="7905598" y="2762097"/>
                </a:lnTo>
                <a:lnTo>
                  <a:pt x="0" y="276209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787357" y="5436499"/>
            <a:ext cx="293941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102">
                <a:solidFill>
                  <a:srgbClr val="2D7C5A"/>
                </a:solidFill>
                <a:latin typeface="Arial"/>
                <a:ea typeface="Arial"/>
                <a:cs typeface="Arial"/>
                <a:sym typeface="Arial"/>
              </a:rPr>
              <a:t>Validated AWS detections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0477" y="9756753"/>
            <a:ext cx="227742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24" spc="-16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951994" y="9758658"/>
            <a:ext cx="218598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24" spc="-1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88423" y="6128785"/>
            <a:ext cx="6126480" cy="116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375" indent="-148187" lvl="1">
              <a:lnSpc>
                <a:spcPts val="1821"/>
              </a:lnSpc>
              <a:buFont typeface="Arial"/>
              <a:buChar char="•"/>
            </a:pPr>
            <a:r>
              <a:rPr lang="en-US" sz="1524" spc="-1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Root account activity</a:t>
            </a:r>
          </a:p>
          <a:p>
            <a:pPr algn="l" marL="296375" indent="-148187" lvl="1">
              <a:lnSpc>
                <a:spcPts val="1813"/>
              </a:lnSpc>
              <a:buFont typeface="Arial"/>
              <a:buChar char="•"/>
            </a:pPr>
            <a:r>
              <a:rPr lang="en-US" sz="1524" spc="-1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IAM user creation</a:t>
            </a:r>
          </a:p>
          <a:p>
            <a:pPr algn="l" marL="296375" indent="-148187" lvl="1">
              <a:lnSpc>
                <a:spcPts val="1813"/>
              </a:lnSpc>
              <a:buFont typeface="Arial"/>
              <a:buChar char="•"/>
            </a:pPr>
            <a:r>
              <a:rPr lang="en-US" sz="1524" spc="-3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Security group modified</a:t>
            </a:r>
          </a:p>
          <a:p>
            <a:pPr algn="l" marL="296375" indent="-148187" lvl="1">
              <a:lnSpc>
                <a:spcPts val="1813"/>
              </a:lnSpc>
            </a:pPr>
            <a:r>
              <a:rPr lang="en-US" sz="1524" spc="-5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△ CloudTrail StopLogging seen in Event History, but S3 ingestion was not consistently captured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9157" y="8639356"/>
            <a:ext cx="1237107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674" spc="-87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Operational note: CloudTrail </a:t>
            </a:r>
            <a:r>
              <a:rPr lang="en-US" b="true" sz="1674" spc="-87">
                <a:solidFill>
                  <a:srgbClr val="1D395E"/>
                </a:solidFill>
                <a:latin typeface="Arial Bold"/>
                <a:ea typeface="Arial Bold"/>
                <a:cs typeface="Arial Bold"/>
                <a:sym typeface="Arial Bold"/>
              </a:rPr>
              <a:t>→ </a:t>
            </a:r>
            <a:r>
              <a:rPr lang="en-US" sz="1674" spc="-87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S3 delivery is delayed, so rule look-back windows must be longer than near-real-time sources.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73402"/>
            <a:ext cx="1002887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79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MISP Threat Intelligence Enrichment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629507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IOC matching turns a network event into high-confidence security context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06738" y="582082"/>
            <a:ext cx="109728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171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THREAT INTEL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77776" y="2798016"/>
            <a:ext cx="2386755" cy="2057190"/>
          </a:xfrm>
          <a:custGeom>
            <a:avLst/>
            <a:gdLst/>
            <a:ahLst/>
            <a:cxnLst/>
            <a:rect r="r" b="b" t="t" l="l"/>
            <a:pathLst>
              <a:path h="2057190" w="2386755">
                <a:moveTo>
                  <a:pt x="0" y="0"/>
                </a:moveTo>
                <a:lnTo>
                  <a:pt x="2386756" y="0"/>
                </a:lnTo>
                <a:lnTo>
                  <a:pt x="2386756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41012" y="3251044"/>
            <a:ext cx="10591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0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MISP Feed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8990" y="4007158"/>
            <a:ext cx="80295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IOC source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37833" y="2798016"/>
            <a:ext cx="2879512" cy="2057190"/>
          </a:xfrm>
          <a:custGeom>
            <a:avLst/>
            <a:gdLst/>
            <a:ahLst/>
            <a:cxnLst/>
            <a:rect r="r" b="b" t="t" l="l"/>
            <a:pathLst>
              <a:path h="2057190" w="2879512">
                <a:moveTo>
                  <a:pt x="0" y="0"/>
                </a:moveTo>
                <a:lnTo>
                  <a:pt x="2879513" y="0"/>
                </a:lnTo>
                <a:lnTo>
                  <a:pt x="2879513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15961" y="3251044"/>
            <a:ext cx="10144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6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IOC Index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84313" y="3918061"/>
            <a:ext cx="147732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misp-ioc-intelligence</a:t>
            </a:r>
          </a:p>
          <a:p>
            <a:pPr algn="ctr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~318K indicators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091199" y="2798016"/>
            <a:ext cx="2878960" cy="2057190"/>
          </a:xfrm>
          <a:custGeom>
            <a:avLst/>
            <a:gdLst/>
            <a:ahLst/>
            <a:cxnLst/>
            <a:rect r="r" b="b" t="t" l="l"/>
            <a:pathLst>
              <a:path h="2057190" w="2878960">
                <a:moveTo>
                  <a:pt x="0" y="0"/>
                </a:moveTo>
                <a:lnTo>
                  <a:pt x="2878960" y="0"/>
                </a:lnTo>
                <a:lnTo>
                  <a:pt x="2878960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12737" y="3251044"/>
            <a:ext cx="132778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2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Suricata DNS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2921" y="4007158"/>
            <a:ext cx="172593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Observed domain query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44013" y="2798016"/>
            <a:ext cx="2879512" cy="2057190"/>
          </a:xfrm>
          <a:custGeom>
            <a:avLst/>
            <a:gdLst/>
            <a:ahLst/>
            <a:cxnLst/>
            <a:rect r="r" b="b" t="t" l="l"/>
            <a:pathLst>
              <a:path h="2057190" w="2879512">
                <a:moveTo>
                  <a:pt x="0" y="0"/>
                </a:moveTo>
                <a:lnTo>
                  <a:pt x="2879512" y="0"/>
                </a:lnTo>
                <a:lnTo>
                  <a:pt x="2879512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58395" y="3251044"/>
            <a:ext cx="213931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7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Logstash Enrichment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6238" y="4007158"/>
            <a:ext cx="160496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Lookup by domain / IP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96846" y="2798016"/>
            <a:ext cx="2879493" cy="2057190"/>
          </a:xfrm>
          <a:custGeom>
            <a:avLst/>
            <a:gdLst/>
            <a:ahLst/>
            <a:cxnLst/>
            <a:rect r="r" b="b" t="t" l="l"/>
            <a:pathLst>
              <a:path h="2057190" w="2879493">
                <a:moveTo>
                  <a:pt x="0" y="0"/>
                </a:moveTo>
                <a:lnTo>
                  <a:pt x="2879493" y="0"/>
                </a:lnTo>
                <a:lnTo>
                  <a:pt x="2879493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715761" y="3251044"/>
            <a:ext cx="15316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9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Matched Fields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45130" y="4007158"/>
            <a:ext cx="187261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threat.indicator.matched.*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649660" y="2798016"/>
            <a:ext cx="2879512" cy="2057190"/>
          </a:xfrm>
          <a:custGeom>
            <a:avLst/>
            <a:gdLst/>
            <a:ahLst/>
            <a:cxnLst/>
            <a:rect r="r" b="b" t="t" l="l"/>
            <a:pathLst>
              <a:path h="2057190" w="2879512">
                <a:moveTo>
                  <a:pt x="0" y="0"/>
                </a:moveTo>
                <a:lnTo>
                  <a:pt x="2879512" y="0"/>
                </a:lnTo>
                <a:lnTo>
                  <a:pt x="2879512" y="2057191"/>
                </a:lnTo>
                <a:lnTo>
                  <a:pt x="0" y="20571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725184" y="3251044"/>
            <a:ext cx="12192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12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Kibana Rule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47873" y="4007158"/>
            <a:ext cx="117348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Critical IOC alert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61618" y="5957011"/>
            <a:ext cx="15517978" cy="1870558"/>
          </a:xfrm>
          <a:custGeom>
            <a:avLst/>
            <a:gdLst/>
            <a:ahLst/>
            <a:cxnLst/>
            <a:rect r="r" b="b" t="t" l="l"/>
            <a:pathLst>
              <a:path h="1870558" w="15517978">
                <a:moveTo>
                  <a:pt x="0" y="0"/>
                </a:moveTo>
                <a:lnTo>
                  <a:pt x="15517977" y="0"/>
                </a:lnTo>
                <a:lnTo>
                  <a:pt x="15517977" y="1870558"/>
                </a:lnTo>
                <a:lnTo>
                  <a:pt x="0" y="187055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832077" y="6427594"/>
            <a:ext cx="27203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12">
                <a:solidFill>
                  <a:srgbClr val="B8D1E4"/>
                </a:solidFill>
                <a:latin typeface="Arial"/>
                <a:ea typeface="Arial"/>
                <a:cs typeface="Arial"/>
                <a:sym typeface="Arial"/>
              </a:rPr>
              <a:t>Validated field example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18177" y="6446758"/>
            <a:ext cx="106556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threat.indicator.matched.type = domain	|	atomic = ameteksen.com	|	provider = MISP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32077" y="7122433"/>
            <a:ext cx="1105185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1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This proves the full enrichment chain: Suricata detection → Logstash lookup → enriched Elasticsearch document → Kibana alert.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92452"/>
            <a:ext cx="100288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049" spc="-226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Detection Coverage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82072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24" spc="-3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Rules span cloud, network, endpoint, identity and threat intelligence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04464" y="591607"/>
            <a:ext cx="9010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140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7238" y="1841678"/>
            <a:ext cx="3146908" cy="6946430"/>
          </a:xfrm>
          <a:custGeom>
            <a:avLst/>
            <a:gdLst/>
            <a:ahLst/>
            <a:cxnLst/>
            <a:rect r="r" b="b" t="t" l="l"/>
            <a:pathLst>
              <a:path h="6946430" w="3146908">
                <a:moveTo>
                  <a:pt x="0" y="0"/>
                </a:moveTo>
                <a:lnTo>
                  <a:pt x="3146907" y="0"/>
                </a:lnTo>
                <a:lnTo>
                  <a:pt x="3146907" y="6946430"/>
                </a:lnTo>
                <a:lnTo>
                  <a:pt x="0" y="69464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07504" y="1842078"/>
            <a:ext cx="3146908" cy="910438"/>
            <a:chOff x="0" y="0"/>
            <a:chExt cx="4195877" cy="12139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5826" cy="1213867"/>
            </a:xfrm>
            <a:custGeom>
              <a:avLst/>
              <a:gdLst/>
              <a:ahLst/>
              <a:cxnLst/>
              <a:rect r="r" b="b" t="t" l="l"/>
              <a:pathLst>
                <a:path h="1213867" w="4195826">
                  <a:moveTo>
                    <a:pt x="0" y="0"/>
                  </a:moveTo>
                  <a:lnTo>
                    <a:pt x="4195826" y="0"/>
                  </a:lnTo>
                  <a:lnTo>
                    <a:pt x="4195826" y="1213867"/>
                  </a:lnTo>
                  <a:lnTo>
                    <a:pt x="0" y="1213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50" r="-1" b="-17354"/>
              </a:stretch>
            </a:blipFill>
            <a:ln w="18898" cap="sq">
              <a:solidFill>
                <a:srgbClr val="1B8B8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195877" cy="12329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  <a:p>
              <a:pPr algn="ctr">
                <a:lnSpc>
                  <a:spcPts val="2339"/>
                </a:lnSpc>
              </a:pPr>
              <a:r>
                <a:rPr lang="en-US" sz="1949" spc="-9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Network / IDS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58326" y="3217059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20393" y="3445735"/>
            <a:ext cx="11201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7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Suricata alert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58326" y="428679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14755" y="4515488"/>
            <a:ext cx="17297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6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Critical Suricata alert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8326" y="5356527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4"/>
                </a:lnTo>
                <a:lnTo>
                  <a:pt x="0" y="6971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88338" y="5585222"/>
            <a:ext cx="78390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Port scan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58326" y="642681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9112" y="6654956"/>
            <a:ext cx="18011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3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Excessive DNS queries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104818" y="1841678"/>
            <a:ext cx="3146908" cy="6946430"/>
          </a:xfrm>
          <a:custGeom>
            <a:avLst/>
            <a:gdLst/>
            <a:ahLst/>
            <a:cxnLst/>
            <a:rect r="r" b="b" t="t" l="l"/>
            <a:pathLst>
              <a:path h="6946430" w="3146908">
                <a:moveTo>
                  <a:pt x="0" y="0"/>
                </a:moveTo>
                <a:lnTo>
                  <a:pt x="3146907" y="0"/>
                </a:lnTo>
                <a:lnTo>
                  <a:pt x="3146907" y="6946430"/>
                </a:lnTo>
                <a:lnTo>
                  <a:pt x="0" y="69464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105084" y="1842078"/>
            <a:ext cx="3146908" cy="910438"/>
            <a:chOff x="0" y="0"/>
            <a:chExt cx="4195877" cy="12139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95826" cy="1213867"/>
            </a:xfrm>
            <a:custGeom>
              <a:avLst/>
              <a:gdLst/>
              <a:ahLst/>
              <a:cxnLst/>
              <a:rect r="r" b="b" t="t" l="l"/>
              <a:pathLst>
                <a:path h="1213867" w="4195826">
                  <a:moveTo>
                    <a:pt x="0" y="0"/>
                  </a:moveTo>
                  <a:lnTo>
                    <a:pt x="4195826" y="0"/>
                  </a:lnTo>
                  <a:lnTo>
                    <a:pt x="4195826" y="1213867"/>
                  </a:lnTo>
                  <a:lnTo>
                    <a:pt x="0" y="1213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50" r="-1" b="-17354"/>
              </a:stretch>
            </a:blipFill>
            <a:ln w="18898" cap="sq">
              <a:solidFill>
                <a:srgbClr val="2D7C5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195877" cy="12329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  <a:p>
              <a:pPr algn="ctr">
                <a:lnSpc>
                  <a:spcPts val="2339"/>
                </a:lnSpc>
              </a:pPr>
              <a:r>
                <a:rPr lang="en-US" sz="1949" spc="-106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Endpoint / Auth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355906" y="3217059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043449" y="3445735"/>
            <a:ext cx="126873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SSH brute force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355906" y="428679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707026" y="4403484"/>
            <a:ext cx="1940242" cy="48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Multiple authentication failures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355906" y="5356527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4"/>
                </a:lnTo>
                <a:lnTo>
                  <a:pt x="0" y="6971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142814" y="5585222"/>
            <a:ext cx="106870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Sudo activity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355906" y="642681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834471" y="6654956"/>
            <a:ext cx="168497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File integrity change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602398" y="1841678"/>
            <a:ext cx="3146908" cy="6946430"/>
          </a:xfrm>
          <a:custGeom>
            <a:avLst/>
            <a:gdLst/>
            <a:ahLst/>
            <a:cxnLst/>
            <a:rect r="r" b="b" t="t" l="l"/>
            <a:pathLst>
              <a:path h="6946430" w="3146908">
                <a:moveTo>
                  <a:pt x="0" y="0"/>
                </a:moveTo>
                <a:lnTo>
                  <a:pt x="3146907" y="0"/>
                </a:lnTo>
                <a:lnTo>
                  <a:pt x="3146907" y="6946430"/>
                </a:lnTo>
                <a:lnTo>
                  <a:pt x="0" y="69464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602664" y="1842078"/>
            <a:ext cx="3146908" cy="910438"/>
            <a:chOff x="0" y="0"/>
            <a:chExt cx="4195877" cy="12139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5826" cy="1213867"/>
            </a:xfrm>
            <a:custGeom>
              <a:avLst/>
              <a:gdLst/>
              <a:ahLst/>
              <a:cxnLst/>
              <a:rect r="r" b="b" t="t" l="l"/>
              <a:pathLst>
                <a:path h="1213867" w="4195826">
                  <a:moveTo>
                    <a:pt x="0" y="0"/>
                  </a:moveTo>
                  <a:lnTo>
                    <a:pt x="4195826" y="0"/>
                  </a:lnTo>
                  <a:lnTo>
                    <a:pt x="4195826" y="1213867"/>
                  </a:lnTo>
                  <a:lnTo>
                    <a:pt x="0" y="1213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50" r="-1" b="-17354"/>
              </a:stretch>
            </a:blipFill>
            <a:ln w="18898" cap="sq">
              <a:solidFill>
                <a:srgbClr val="F49D0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195877" cy="12329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  <a:p>
              <a:pPr algn="ctr">
                <a:lnSpc>
                  <a:spcPts val="2339"/>
                </a:lnSpc>
              </a:pPr>
              <a:r>
                <a:rPr lang="en-US" sz="1949" spc="-1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Web / Pipeline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7853486" y="3217059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025327" y="3445735"/>
            <a:ext cx="229838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Web enumeration / 404 scan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853486" y="428679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305590" y="4515488"/>
            <a:ext cx="17383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4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CI/CD pipeline failure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7853486" y="5356527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4"/>
                </a:lnTo>
                <a:lnTo>
                  <a:pt x="0" y="6971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448694" y="5585222"/>
            <a:ext cx="14525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Log parser failure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1099978" y="1841678"/>
            <a:ext cx="3146908" cy="6946430"/>
          </a:xfrm>
          <a:custGeom>
            <a:avLst/>
            <a:gdLst/>
            <a:ahLst/>
            <a:cxnLst/>
            <a:rect r="r" b="b" t="t" l="l"/>
            <a:pathLst>
              <a:path h="6946430" w="3146908">
                <a:moveTo>
                  <a:pt x="0" y="0"/>
                </a:moveTo>
                <a:lnTo>
                  <a:pt x="3146907" y="0"/>
                </a:lnTo>
                <a:lnTo>
                  <a:pt x="3146907" y="6946430"/>
                </a:lnTo>
                <a:lnTo>
                  <a:pt x="0" y="69464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1100245" y="1842078"/>
            <a:ext cx="3146908" cy="910438"/>
            <a:chOff x="0" y="0"/>
            <a:chExt cx="4195877" cy="12139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95826" cy="1213867"/>
            </a:xfrm>
            <a:custGeom>
              <a:avLst/>
              <a:gdLst/>
              <a:ahLst/>
              <a:cxnLst/>
              <a:rect r="r" b="b" t="t" l="l"/>
              <a:pathLst>
                <a:path h="1213867" w="4195826">
                  <a:moveTo>
                    <a:pt x="0" y="0"/>
                  </a:moveTo>
                  <a:lnTo>
                    <a:pt x="4195826" y="0"/>
                  </a:lnTo>
                  <a:lnTo>
                    <a:pt x="4195826" y="1213867"/>
                  </a:lnTo>
                  <a:lnTo>
                    <a:pt x="0" y="1213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50" r="-1" b="-17354"/>
              </a:stretch>
            </a:blipFill>
            <a:ln w="18898" cap="sq">
              <a:solidFill>
                <a:srgbClr val="C14039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195877" cy="12329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  <a:p>
              <a:pPr algn="ctr">
                <a:lnSpc>
                  <a:spcPts val="2339"/>
                </a:lnSpc>
              </a:pPr>
              <a:r>
                <a:rPr lang="en-US" sz="1949" spc="-1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Threat Intel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1351066" y="3217059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2011063" y="3445735"/>
            <a:ext cx="13239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MISP IOC match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1351066" y="428679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1835574" y="4403484"/>
            <a:ext cx="1674495" cy="48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Malicious domain/IP enrichment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4597558" y="1841678"/>
            <a:ext cx="3146908" cy="6946430"/>
          </a:xfrm>
          <a:custGeom>
            <a:avLst/>
            <a:gdLst/>
            <a:ahLst/>
            <a:cxnLst/>
            <a:rect r="r" b="b" t="t" l="l"/>
            <a:pathLst>
              <a:path h="6946430" w="3146908">
                <a:moveTo>
                  <a:pt x="0" y="0"/>
                </a:moveTo>
                <a:lnTo>
                  <a:pt x="3146907" y="0"/>
                </a:lnTo>
                <a:lnTo>
                  <a:pt x="3146907" y="6946430"/>
                </a:lnTo>
                <a:lnTo>
                  <a:pt x="0" y="69464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4597824" y="1842078"/>
            <a:ext cx="3146908" cy="910438"/>
            <a:chOff x="0" y="0"/>
            <a:chExt cx="4195877" cy="121391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95826" cy="1213867"/>
            </a:xfrm>
            <a:custGeom>
              <a:avLst/>
              <a:gdLst/>
              <a:ahLst/>
              <a:cxnLst/>
              <a:rect r="r" b="b" t="t" l="l"/>
              <a:pathLst>
                <a:path h="1213867" w="4195826">
                  <a:moveTo>
                    <a:pt x="0" y="0"/>
                  </a:moveTo>
                  <a:lnTo>
                    <a:pt x="4195826" y="0"/>
                  </a:lnTo>
                  <a:lnTo>
                    <a:pt x="4195826" y="1213867"/>
                  </a:lnTo>
                  <a:lnTo>
                    <a:pt x="0" y="1213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50" r="-1" b="-17354"/>
              </a:stretch>
            </a:blipFill>
            <a:ln w="18898" cap="sq">
              <a:solidFill>
                <a:srgbClr val="2E6A99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195877" cy="12329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  <a:p>
              <a:pPr algn="ctr">
                <a:lnSpc>
                  <a:spcPts val="2339"/>
                </a:lnSpc>
              </a:pPr>
              <a:r>
                <a:rPr lang="en-US" sz="1949" spc="-1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AWS Cloud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4848646" y="3217059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5305075" y="3445735"/>
            <a:ext cx="17297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Root account activity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4848646" y="428679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5440063" y="4515488"/>
            <a:ext cx="146018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IAM user creation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4848646" y="5356527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4"/>
                </a:lnTo>
                <a:lnTo>
                  <a:pt x="0" y="6971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5190051" y="5585222"/>
            <a:ext cx="195834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1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Security group modified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4848646" y="6426813"/>
            <a:ext cx="2644997" cy="697135"/>
          </a:xfrm>
          <a:custGeom>
            <a:avLst/>
            <a:gdLst/>
            <a:ahLst/>
            <a:cxnLst/>
            <a:rect r="r" b="b" t="t" l="l"/>
            <a:pathLst>
              <a:path h="697135" w="2644997">
                <a:moveTo>
                  <a:pt x="0" y="0"/>
                </a:moveTo>
                <a:lnTo>
                  <a:pt x="2644998" y="0"/>
                </a:lnTo>
                <a:lnTo>
                  <a:pt x="2644998" y="697135"/>
                </a:lnTo>
                <a:lnTo>
                  <a:pt x="0" y="6971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5025897" y="6654956"/>
            <a:ext cx="228695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 spc="-74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CloudTrail logging disabled*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60477" y="9747228"/>
            <a:ext cx="27593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spc="-18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591988" y="9852003"/>
            <a:ext cx="270492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826693" y="9245308"/>
            <a:ext cx="113633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* StopLogging event was generated in AWS, but ingestion was not consistently captured in the S3/SQS pipeline during testing.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511883"/>
            <a:ext cx="57382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049" spc="-210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Validation Method &amp; 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95179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2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Each rule was tested end-to-end, not only enabled in Kibana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65050" y="591607"/>
            <a:ext cx="9810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121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2891" y="1706404"/>
            <a:ext cx="9754429" cy="866651"/>
          </a:xfrm>
          <a:custGeom>
            <a:avLst/>
            <a:gdLst/>
            <a:ahLst/>
            <a:cxnLst/>
            <a:rect r="r" b="b" t="t" l="l"/>
            <a:pathLst>
              <a:path h="866651" w="9754429">
                <a:moveTo>
                  <a:pt x="0" y="0"/>
                </a:moveTo>
                <a:lnTo>
                  <a:pt x="9754429" y="0"/>
                </a:lnTo>
                <a:lnTo>
                  <a:pt x="9754429" y="866651"/>
                </a:lnTo>
                <a:lnTo>
                  <a:pt x="0" y="8666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8726" y="1971856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0804" y="1902514"/>
            <a:ext cx="175164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8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Generate activity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43857" y="1984772"/>
            <a:ext cx="42738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Perform the attack simulation or administrative action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82891" y="2885751"/>
            <a:ext cx="9754429" cy="866651"/>
          </a:xfrm>
          <a:custGeom>
            <a:avLst/>
            <a:gdLst/>
            <a:ahLst/>
            <a:cxnLst/>
            <a:rect r="r" b="b" t="t" l="l"/>
            <a:pathLst>
              <a:path h="866651" w="9754429">
                <a:moveTo>
                  <a:pt x="0" y="0"/>
                </a:moveTo>
                <a:lnTo>
                  <a:pt x="9754429" y="0"/>
                </a:lnTo>
                <a:lnTo>
                  <a:pt x="9754429" y="866651"/>
                </a:lnTo>
                <a:lnTo>
                  <a:pt x="0" y="8666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88726" y="3151756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0804" y="3081861"/>
            <a:ext cx="175545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8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Confirm indexing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43857" y="3164672"/>
            <a:ext cx="46291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Search the matching soc-* index in Discover / Elasticsearch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82891" y="4065651"/>
            <a:ext cx="9754429" cy="866651"/>
          </a:xfrm>
          <a:custGeom>
            <a:avLst/>
            <a:gdLst/>
            <a:ahLst/>
            <a:cxnLst/>
            <a:rect r="r" b="b" t="t" l="l"/>
            <a:pathLst>
              <a:path h="866651" w="9754429">
                <a:moveTo>
                  <a:pt x="0" y="0"/>
                </a:moveTo>
                <a:lnTo>
                  <a:pt x="9754429" y="0"/>
                </a:lnTo>
                <a:lnTo>
                  <a:pt x="9754429" y="866651"/>
                </a:lnTo>
                <a:lnTo>
                  <a:pt x="0" y="8666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88726" y="433112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0804" y="4261218"/>
            <a:ext cx="21155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11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Check rule execution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43857" y="4344038"/>
            <a:ext cx="451770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Verify the scheduled rule completed without query errors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82891" y="5245017"/>
            <a:ext cx="9754429" cy="866651"/>
          </a:xfrm>
          <a:custGeom>
            <a:avLst/>
            <a:gdLst/>
            <a:ahLst/>
            <a:cxnLst/>
            <a:rect r="r" b="b" t="t" l="l"/>
            <a:pathLst>
              <a:path h="866651" w="9754429">
                <a:moveTo>
                  <a:pt x="0" y="0"/>
                </a:moveTo>
                <a:lnTo>
                  <a:pt x="9754429" y="0"/>
                </a:lnTo>
                <a:lnTo>
                  <a:pt x="9754429" y="866652"/>
                </a:lnTo>
                <a:lnTo>
                  <a:pt x="0" y="8666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88726" y="551102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0804" y="5441128"/>
            <a:ext cx="13668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8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Confirm alert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43857" y="5523386"/>
            <a:ext cx="42357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Validate source, timestamp, severity and event details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82891" y="6424917"/>
            <a:ext cx="9754429" cy="866651"/>
          </a:xfrm>
          <a:custGeom>
            <a:avLst/>
            <a:gdLst/>
            <a:ahLst/>
            <a:cxnLst/>
            <a:rect r="r" b="b" t="t" l="l"/>
            <a:pathLst>
              <a:path h="866651" w="9754429">
                <a:moveTo>
                  <a:pt x="0" y="0"/>
                </a:moveTo>
                <a:lnTo>
                  <a:pt x="9754429" y="0"/>
                </a:lnTo>
                <a:lnTo>
                  <a:pt x="9754429" y="866651"/>
                </a:lnTo>
                <a:lnTo>
                  <a:pt x="0" y="8666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88726" y="6690389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10804" y="6620494"/>
            <a:ext cx="22012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98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Review false positives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43857" y="6703285"/>
            <a:ext cx="475773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Ensure the event is expected and the rule is scoped correctly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100511" y="1704518"/>
            <a:ext cx="6259678" cy="6739738"/>
          </a:xfrm>
          <a:custGeom>
            <a:avLst/>
            <a:gdLst/>
            <a:ahLst/>
            <a:cxnLst/>
            <a:rect r="r" b="b" t="t" l="l"/>
            <a:pathLst>
              <a:path h="6739738" w="6259678">
                <a:moveTo>
                  <a:pt x="0" y="0"/>
                </a:moveTo>
                <a:lnTo>
                  <a:pt x="6259678" y="0"/>
                </a:lnTo>
                <a:lnTo>
                  <a:pt x="6259678" y="6739737"/>
                </a:lnTo>
                <a:lnTo>
                  <a:pt x="0" y="67397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570970" y="2210552"/>
            <a:ext cx="289991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-1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validated outcomes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0477" y="9747228"/>
            <a:ext cx="227742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spc="-18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51994" y="9749133"/>
            <a:ext cx="21859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4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13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71503" y="4003748"/>
            <a:ext cx="4621530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16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SOC indices populated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16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MISP-enriched DNS IOC alert generated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16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AWS root activity alert generated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16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IAM CreateUser alert generated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16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Security group modification alert generated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34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AD DNS, Kerberos and Linux login verified</a:t>
            </a:r>
          </a:p>
          <a:p>
            <a:pPr algn="l" marL="332612" indent="-166306" lvl="1">
              <a:lnSpc>
                <a:spcPts val="2159"/>
              </a:lnSpc>
              <a:buFont typeface="Arial"/>
              <a:buChar char="•"/>
            </a:pPr>
            <a:r>
              <a:rPr lang="en-US" sz="1799" spc="-34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Elasticsearch, Kibana, Logstash and Kafka healthy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71503" y="7107565"/>
            <a:ext cx="50587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9"/>
              </a:lnSpc>
            </a:pPr>
            <a:r>
              <a:rPr lang="en-US" sz="1874" spc="-107">
                <a:solidFill>
                  <a:srgbClr val="FFD389"/>
                </a:solidFill>
                <a:latin typeface="Arial"/>
                <a:ea typeface="Arial"/>
                <a:cs typeface="Arial"/>
                <a:sym typeface="Arial"/>
              </a:rPr>
              <a:t>Result: the project demonstrates a complete event lifecycle from telemetry generation to SOC analyst alert.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6935153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315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SOC-Core Service Health</a:t>
            </a:r>
          </a:p>
          <a:p>
            <a:pPr algn="l">
              <a:lnSpc>
                <a:spcPts val="1980"/>
              </a:lnSpc>
            </a:pPr>
            <a:r>
              <a:rPr lang="en-US" sz="1650" spc="-35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Container-level verification of the Elastic processing and storage stack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73626" y="4069442"/>
            <a:ext cx="16321507" cy="1899171"/>
            <a:chOff x="0" y="0"/>
            <a:chExt cx="21762009" cy="2532228"/>
          </a:xfrm>
        </p:grpSpPr>
        <p:sp>
          <p:nvSpPr>
            <p:cNvPr name="Freeform 10" id="10" descr="soc-health.png"/>
            <p:cNvSpPr/>
            <p:nvPr/>
          </p:nvSpPr>
          <p:spPr>
            <a:xfrm flipH="false" flipV="false" rot="0">
              <a:off x="0" y="0"/>
              <a:ext cx="21761958" cy="2532253"/>
            </a:xfrm>
            <a:custGeom>
              <a:avLst/>
              <a:gdLst/>
              <a:ahLst/>
              <a:cxnLst/>
              <a:rect r="r" b="b" t="t" l="l"/>
              <a:pathLst>
                <a:path h="2532253" w="21761958">
                  <a:moveTo>
                    <a:pt x="0" y="0"/>
                  </a:moveTo>
                  <a:lnTo>
                    <a:pt x="21761958" y="0"/>
                  </a:lnTo>
                  <a:lnTo>
                    <a:pt x="21761958" y="2532253"/>
                  </a:lnTo>
                  <a:lnTo>
                    <a:pt x="0" y="2532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53" r="0" b="-65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912399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Elasticsearch, Kibana, Logstash and Kafka report healthy status; ZooKeeper is running.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confirms that ingestion, buffering, processing, storage and visualization services are operational.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10369868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7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Kibana Discover — Centralized SOC Data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Searchable events from the soc-* data view with expanded Suricata fields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40902" y="1960740"/>
            <a:ext cx="13587489" cy="6116574"/>
            <a:chOff x="0" y="0"/>
            <a:chExt cx="18116652" cy="8155432"/>
          </a:xfrm>
        </p:grpSpPr>
        <p:sp>
          <p:nvSpPr>
            <p:cNvPr name="Freeform 10" id="10" descr="kibana-discover data.png"/>
            <p:cNvSpPr/>
            <p:nvPr/>
          </p:nvSpPr>
          <p:spPr>
            <a:xfrm flipH="false" flipV="false" rot="0">
              <a:off x="0" y="0"/>
              <a:ext cx="18116677" cy="8155432"/>
            </a:xfrm>
            <a:custGeom>
              <a:avLst/>
              <a:gdLst/>
              <a:ahLst/>
              <a:cxnLst/>
              <a:rect r="r" b="b" t="t" l="l"/>
              <a:pathLst>
                <a:path h="8155432" w="18116677">
                  <a:moveTo>
                    <a:pt x="0" y="0"/>
                  </a:moveTo>
                  <a:lnTo>
                    <a:pt x="18116677" y="0"/>
                  </a:lnTo>
                  <a:lnTo>
                    <a:pt x="18116677" y="8155432"/>
                  </a:lnTo>
                  <a:lnTo>
                    <a:pt x="0" y="815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7" r="0" b="-127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06365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8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Kibana Discover displays more than 1.59 million indexed SOC events across the selected time range.</a:t>
            </a:r>
          </a:p>
          <a:p>
            <a:pPr algn="l">
              <a:lnSpc>
                <a:spcPts val="1800"/>
              </a:lnSpc>
            </a:pPr>
            <a:r>
              <a:rPr lang="en-US" sz="1500" spc="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expanded document confirms Filebeat ingestion, ECS metadata, VM-IDS-01 attribution and Suricata categorization.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7833360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82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WireGuard Connectivity</a:t>
            </a:r>
          </a:p>
          <a:p>
            <a:pPr algn="l">
              <a:lnSpc>
                <a:spcPts val="1980"/>
              </a:lnSpc>
            </a:pPr>
            <a:r>
              <a:rPr lang="en-US" sz="1650" spc="1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Active encrypted peer session between the on-premises host and VPN gateway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23071" y="1960740"/>
            <a:ext cx="13623665" cy="6116574"/>
            <a:chOff x="0" y="0"/>
            <a:chExt cx="18164886" cy="8155432"/>
          </a:xfrm>
        </p:grpSpPr>
        <p:sp>
          <p:nvSpPr>
            <p:cNvPr name="Freeform 10" id="10" descr="wireguard connectivity.png"/>
            <p:cNvSpPr/>
            <p:nvPr/>
          </p:nvSpPr>
          <p:spPr>
            <a:xfrm flipH="false" flipV="false" rot="0">
              <a:off x="0" y="0"/>
              <a:ext cx="18164938" cy="8155432"/>
            </a:xfrm>
            <a:custGeom>
              <a:avLst/>
              <a:gdLst/>
              <a:ahLst/>
              <a:cxnLst/>
              <a:rect r="r" b="b" t="t" l="l"/>
              <a:pathLst>
                <a:path h="8155432" w="18164938">
                  <a:moveTo>
                    <a:pt x="0" y="0"/>
                  </a:moveTo>
                  <a:lnTo>
                    <a:pt x="18164938" y="0"/>
                  </a:lnTo>
                  <a:lnTo>
                    <a:pt x="18164938" y="8155432"/>
                  </a:lnTo>
                  <a:lnTo>
                    <a:pt x="0" y="815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8" r="0" b="-12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0391775" cy="6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8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recent handshake, configured peer and bidirectional transfer values confirm the tunnel is active.</a:t>
            </a:r>
          </a:p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Persistent keepalive supports reliable connectivity between the on-premises lab and the AWS-hosted VPN gateway.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8885872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Linux Domain Join — Realm Status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SOC-Core membership in the kpk.local Active Directory realm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355475" y="1960740"/>
            <a:ext cx="13557771" cy="6116574"/>
            <a:chOff x="0" y="0"/>
            <a:chExt cx="18077028" cy="8155432"/>
          </a:xfrm>
        </p:grpSpPr>
        <p:sp>
          <p:nvSpPr>
            <p:cNvPr name="Freeform 10" id="10" descr="linux_domain_status.png"/>
            <p:cNvSpPr/>
            <p:nvPr/>
          </p:nvSpPr>
          <p:spPr>
            <a:xfrm flipH="false" flipV="false" rot="0">
              <a:off x="0" y="0"/>
              <a:ext cx="18077053" cy="8155432"/>
            </a:xfrm>
            <a:custGeom>
              <a:avLst/>
              <a:gdLst/>
              <a:ahLst/>
              <a:cxnLst/>
              <a:rect r="r" b="b" t="t" l="l"/>
              <a:pathLst>
                <a:path h="8155432" w="18077053">
                  <a:moveTo>
                    <a:pt x="0" y="0"/>
                  </a:moveTo>
                  <a:lnTo>
                    <a:pt x="18077053" y="0"/>
                  </a:lnTo>
                  <a:lnTo>
                    <a:pt x="18077053" y="8155432"/>
                  </a:lnTo>
                  <a:lnTo>
                    <a:pt x="0" y="815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6" r="0" b="-126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0928985" cy="6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realm list confirms Kerberos membership, Active Directory server software and SSSD as the Linux client.</a:t>
            </a:r>
          </a:p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login policy explicitly permits soc.analyst1 and shows the required integration packages.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10525125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2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Linux Domain Join — Identity &amp; Kerberos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AD user resolution, group membership and ticket-based authentication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73626" y="2267998"/>
            <a:ext cx="16321507" cy="5503145"/>
            <a:chOff x="0" y="0"/>
            <a:chExt cx="21762009" cy="7337527"/>
          </a:xfrm>
        </p:grpSpPr>
        <p:sp>
          <p:nvSpPr>
            <p:cNvPr name="Freeform 10" id="10" descr="linux_identity_kerberos.png"/>
            <p:cNvSpPr/>
            <p:nvPr/>
          </p:nvSpPr>
          <p:spPr>
            <a:xfrm flipH="false" flipV="false" rot="0">
              <a:off x="0" y="0"/>
              <a:ext cx="21761958" cy="7337552"/>
            </a:xfrm>
            <a:custGeom>
              <a:avLst/>
              <a:gdLst/>
              <a:ahLst/>
              <a:cxnLst/>
              <a:rect r="r" b="b" t="t" l="l"/>
              <a:pathLst>
                <a:path h="7337552" w="21761958">
                  <a:moveTo>
                    <a:pt x="0" y="0"/>
                  </a:moveTo>
                  <a:lnTo>
                    <a:pt x="21761958" y="0"/>
                  </a:lnTo>
                  <a:lnTo>
                    <a:pt x="21761958" y="7337552"/>
                  </a:lnTo>
                  <a:lnTo>
                    <a:pt x="0" y="733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5" r="0" b="-16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1146155" cy="6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SOC analyst account resolves with domain UID/GID values and membership in the soc-analysts group.</a:t>
            </a:r>
          </a:p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 valid Kerberos ticket confirms successful authentication against the KPK.LOCAL realm.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8575357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42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MISP Status — Host &amp; Containers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VM-MISP-01 service stack running with the application, cache and database containers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73626" y="3330188"/>
            <a:ext cx="16321507" cy="3378232"/>
            <a:chOff x="0" y="0"/>
            <a:chExt cx="21762009" cy="4504309"/>
          </a:xfrm>
        </p:grpSpPr>
        <p:sp>
          <p:nvSpPr>
            <p:cNvPr name="Freeform 10" id="10" descr="misp_host_containers.png"/>
            <p:cNvSpPr/>
            <p:nvPr/>
          </p:nvSpPr>
          <p:spPr>
            <a:xfrm flipH="false" flipV="false" rot="0">
              <a:off x="0" y="0"/>
              <a:ext cx="21761958" cy="4504309"/>
            </a:xfrm>
            <a:custGeom>
              <a:avLst/>
              <a:gdLst/>
              <a:ahLst/>
              <a:cxnLst/>
              <a:rect r="r" b="b" t="t" l="l"/>
              <a:pathLst>
                <a:path h="4504309" w="21761958">
                  <a:moveTo>
                    <a:pt x="0" y="0"/>
                  </a:moveTo>
                  <a:lnTo>
                    <a:pt x="21761958" y="0"/>
                  </a:lnTo>
                  <a:lnTo>
                    <a:pt x="21761958" y="4504309"/>
                  </a:lnTo>
                  <a:lnTo>
                    <a:pt x="0" y="450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26" r="0" b="-326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0522268" cy="6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8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misp-core, misp-redis and misp-db are running, with ports 80 and 443 exposed by the core container.</a:t>
            </a:r>
          </a:p>
          <a:p>
            <a:pPr algn="l">
              <a:lnSpc>
                <a:spcPts val="1800"/>
              </a:lnSpc>
            </a:pPr>
            <a:r>
              <a:rPr lang="en-US" sz="1500" spc="-3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host uses 192.168.150.10 on the internal security segment and supports threat-intelligence operations.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237201"/>
            <a:ext cx="9877425" cy="10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42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MISP Status — Secure Web Availability</a:t>
            </a:r>
          </a:p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HTTP-to-HTTPS redirection and delivery of the MISP login endpoint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34789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0"/>
                </a:lnTo>
                <a:lnTo>
                  <a:pt x="0" y="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97944" y="468163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380" y="1783080"/>
            <a:ext cx="16761143" cy="6474142"/>
          </a:xfrm>
          <a:custGeom>
            <a:avLst/>
            <a:gdLst/>
            <a:ahLst/>
            <a:cxnLst/>
            <a:rect r="r" b="b" t="t" l="l"/>
            <a:pathLst>
              <a:path h="6474142" w="16761143">
                <a:moveTo>
                  <a:pt x="0" y="0"/>
                </a:moveTo>
                <a:lnTo>
                  <a:pt x="16761143" y="0"/>
                </a:lnTo>
                <a:lnTo>
                  <a:pt x="16761143" y="6474142"/>
                </a:lnTo>
                <a:lnTo>
                  <a:pt x="0" y="647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9522" y="1778222"/>
            <a:ext cx="16770858" cy="6483858"/>
          </a:xfrm>
          <a:custGeom>
            <a:avLst/>
            <a:gdLst/>
            <a:ahLst/>
            <a:cxnLst/>
            <a:rect r="r" b="b" t="t" l="l"/>
            <a:pathLst>
              <a:path h="6483858" w="16770858">
                <a:moveTo>
                  <a:pt x="0" y="0"/>
                </a:moveTo>
                <a:lnTo>
                  <a:pt x="16770858" y="0"/>
                </a:lnTo>
                <a:lnTo>
                  <a:pt x="16770858" y="6483858"/>
                </a:lnTo>
                <a:lnTo>
                  <a:pt x="0" y="6483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73626" y="2849042"/>
            <a:ext cx="16321507" cy="4340523"/>
            <a:chOff x="0" y="0"/>
            <a:chExt cx="21762009" cy="5787365"/>
          </a:xfrm>
        </p:grpSpPr>
        <p:sp>
          <p:nvSpPr>
            <p:cNvPr name="Freeform 10" id="10" descr="misp_web_check.png"/>
            <p:cNvSpPr/>
            <p:nvPr/>
          </p:nvSpPr>
          <p:spPr>
            <a:xfrm flipH="false" flipV="false" rot="0">
              <a:off x="0" y="0"/>
              <a:ext cx="21761958" cy="5787390"/>
            </a:xfrm>
            <a:custGeom>
              <a:avLst/>
              <a:gdLst/>
              <a:ahLst/>
              <a:cxnLst/>
              <a:rect r="r" b="b" t="t" l="l"/>
              <a:pathLst>
                <a:path h="5787390" w="21761958">
                  <a:moveTo>
                    <a:pt x="0" y="0"/>
                  </a:moveTo>
                  <a:lnTo>
                    <a:pt x="21761958" y="0"/>
                  </a:lnTo>
                  <a:lnTo>
                    <a:pt x="21761958" y="5787390"/>
                  </a:lnTo>
                  <a:lnTo>
                    <a:pt x="0" y="578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6" r="0" b="-23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48989" y="8470449"/>
            <a:ext cx="16771810" cy="1163193"/>
          </a:xfrm>
          <a:custGeom>
            <a:avLst/>
            <a:gdLst/>
            <a:ahLst/>
            <a:cxnLst/>
            <a:rect r="r" b="b" t="t" l="l"/>
            <a:pathLst>
              <a:path h="1163193" w="16771810">
                <a:moveTo>
                  <a:pt x="0" y="0"/>
                </a:moveTo>
                <a:lnTo>
                  <a:pt x="16771810" y="0"/>
                </a:lnTo>
                <a:lnTo>
                  <a:pt x="16771810" y="1163193"/>
                </a:lnTo>
                <a:lnTo>
                  <a:pt x="0" y="11631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684" y="8585349"/>
            <a:ext cx="11647170" cy="6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HTTP endpoint returns 301 and redirects to HTTPS; the secure endpoint returns 302 to the MISP login page.</a:t>
            </a:r>
          </a:p>
          <a:p>
            <a:pPr algn="l">
              <a:lnSpc>
                <a:spcPts val="1800"/>
              </a:lnSpc>
            </a:pPr>
            <a:r>
              <a:rPr lang="en-US" sz="1500" spc="-4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validates Nginx availability, TLS redirection and access to misp.kpk.local/users/login.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197453"/>
            <a:ext cx="6497955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9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Detection Rule Inventory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Enabled Elastic detection rules with execution status and severity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93406" y="1727454"/>
            <a:ext cx="15895987" cy="6829920"/>
            <a:chOff x="0" y="0"/>
            <a:chExt cx="21194649" cy="9106560"/>
          </a:xfrm>
        </p:grpSpPr>
        <p:sp>
          <p:nvSpPr>
            <p:cNvPr name="Freeform 12" id="12" descr="rules.png"/>
            <p:cNvSpPr/>
            <p:nvPr/>
          </p:nvSpPr>
          <p:spPr>
            <a:xfrm flipH="false" flipV="false" rot="0">
              <a:off x="0" y="0"/>
              <a:ext cx="21194649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194649">
                  <a:moveTo>
                    <a:pt x="0" y="0"/>
                  </a:moveTo>
                  <a:lnTo>
                    <a:pt x="21194649" y="0"/>
                  </a:lnTo>
                  <a:lnTo>
                    <a:pt x="21194649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" r="0" b="-3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9650" y="8840857"/>
            <a:ext cx="10868978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Detection rules are enabled across cloud, network, endpoint, identity and threat-intelligence use cases.</a:t>
            </a:r>
          </a:p>
          <a:p>
            <a:pPr algn="l">
              <a:lnSpc>
                <a:spcPts val="1709"/>
              </a:lnSpc>
            </a:pPr>
            <a:r>
              <a:rPr lang="en-US" sz="1425" spc="-4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rule list shows successful execution, assigned risk scores, severity levels and active rule toggles.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0477" y="9756753"/>
            <a:ext cx="2277428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51994" y="9766278"/>
            <a:ext cx="1828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Hybrid Enterprise SOC Lab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197453"/>
            <a:ext cx="7386638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7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AWS IAM User Creation Alert</a:t>
            </a:r>
          </a:p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CloudTrail-backed detection of a newly created IAM identity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9404" y="1727454"/>
            <a:ext cx="16544525" cy="6829920"/>
            <a:chOff x="0" y="0"/>
            <a:chExt cx="22059367" cy="9106560"/>
          </a:xfrm>
        </p:grpSpPr>
        <p:sp>
          <p:nvSpPr>
            <p:cNvPr name="Freeform 12" id="12" descr="aws iam user creation.png"/>
            <p:cNvSpPr/>
            <p:nvPr/>
          </p:nvSpPr>
          <p:spPr>
            <a:xfrm flipH="false" flipV="false" rot="0">
              <a:off x="0" y="0"/>
              <a:ext cx="22059392" cy="9106535"/>
            </a:xfrm>
            <a:custGeom>
              <a:avLst/>
              <a:gdLst/>
              <a:ahLst/>
              <a:cxnLst/>
              <a:rect r="r" b="b" t="t" l="l"/>
              <a:pathLst>
                <a:path h="9106535" w="22059392">
                  <a:moveTo>
                    <a:pt x="0" y="0"/>
                  </a:moveTo>
                  <a:lnTo>
                    <a:pt x="22059392" y="0"/>
                  </a:lnTo>
                  <a:lnTo>
                    <a:pt x="22059392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" r="0" b="-3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9650" y="8840857"/>
            <a:ext cx="984885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Elastic generated a high-severity alert when an AWS IAM user-creation event was detected.</a:t>
            </a:r>
          </a:p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alert is mapped to MITRE ATT&amp;CK Create Account and confirms AWS audit events are reaching the SOC pipeline.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0477" y="9756753"/>
            <a:ext cx="2277428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51994" y="9766278"/>
            <a:ext cx="1828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Hybrid Enterprise SOC Lab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8228647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25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AWS Root Account Activity Alert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Monitoring use of the highly privileged AWS root identity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9636" y="1727454"/>
            <a:ext cx="16483508" cy="6829920"/>
            <a:chOff x="0" y="0"/>
            <a:chExt cx="21978010" cy="9106560"/>
          </a:xfrm>
        </p:grpSpPr>
        <p:sp>
          <p:nvSpPr>
            <p:cNvPr name="Freeform 11" id="11" descr="aws root activity.png"/>
            <p:cNvSpPr/>
            <p:nvPr/>
          </p:nvSpPr>
          <p:spPr>
            <a:xfrm flipH="false" flipV="false" rot="0">
              <a:off x="0" y="0"/>
              <a:ext cx="21977986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977986">
                  <a:moveTo>
                    <a:pt x="0" y="0"/>
                  </a:moveTo>
                  <a:lnTo>
                    <a:pt x="21977986" y="0"/>
                  </a:lnTo>
                  <a:lnTo>
                    <a:pt x="21977986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8186738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Root-account activity generated a high-severity alert with a risk score of 75.</a:t>
            </a:r>
          </a:p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Continuous monitoring of root usage helps detect risky or unauthorized privileged cloud access.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9886950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8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AWS Security Group Modification Alert</a:t>
            </a:r>
          </a:p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Detection of changes to cloud network-access controls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16279" y="1727454"/>
            <a:ext cx="16250222" cy="6829920"/>
            <a:chOff x="0" y="0"/>
            <a:chExt cx="21666962" cy="9106560"/>
          </a:xfrm>
        </p:grpSpPr>
        <p:sp>
          <p:nvSpPr>
            <p:cNvPr name="Freeform 11" id="11" descr="aws security group mod.png"/>
            <p:cNvSpPr/>
            <p:nvPr/>
          </p:nvSpPr>
          <p:spPr>
            <a:xfrm flipH="false" flipV="false" rot="0">
              <a:off x="0" y="0"/>
              <a:ext cx="21666963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666963">
                  <a:moveTo>
                    <a:pt x="0" y="0"/>
                  </a:moveTo>
                  <a:lnTo>
                    <a:pt x="21666963" y="0"/>
                  </a:lnTo>
                  <a:lnTo>
                    <a:pt x="21666963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8769668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security-group modification produced a high-severity alert with a risk score of 80.</a:t>
            </a:r>
          </a:p>
          <a:p>
            <a:pPr algn="l">
              <a:lnSpc>
                <a:spcPts val="1709"/>
              </a:lnSpc>
            </a:pPr>
            <a:r>
              <a:rPr lang="en-US" sz="1425" spc="-3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detection helps identify changes that may expose services or weaken AWS network boundaries.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8161972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71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File Integrity Modification Alert</a:t>
            </a:r>
          </a:p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Endpoint monitoring of sensitive file-system changes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0954" y="1727454"/>
            <a:ext cx="16420852" cy="6829920"/>
            <a:chOff x="0" y="0"/>
            <a:chExt cx="21894470" cy="9106560"/>
          </a:xfrm>
        </p:grpSpPr>
        <p:sp>
          <p:nvSpPr>
            <p:cNvPr name="Freeform 11" id="11" descr="file integrity.png"/>
            <p:cNvSpPr/>
            <p:nvPr/>
          </p:nvSpPr>
          <p:spPr>
            <a:xfrm flipH="false" flipV="false" rot="0">
              <a:off x="0" y="0"/>
              <a:ext cx="21894419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894419">
                  <a:moveTo>
                    <a:pt x="0" y="0"/>
                  </a:moveTo>
                  <a:lnTo>
                    <a:pt x="21894419" y="0"/>
                  </a:lnTo>
                  <a:lnTo>
                    <a:pt x="21894419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1130427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File-integrity monitoring detected modifications on VM-SERVICES-01 and generated medium-severity alerts.</a:t>
            </a:r>
          </a:p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alert preserves the host and affected path, supporting rapid investigation of unauthorized changes.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6520815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7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Port Scan Detection Alert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Threshold-based detection of reconnaissance activity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00722" y="1727454"/>
            <a:ext cx="16481336" cy="6829920"/>
            <a:chOff x="0" y="0"/>
            <a:chExt cx="21975115" cy="9106560"/>
          </a:xfrm>
        </p:grpSpPr>
        <p:sp>
          <p:nvSpPr>
            <p:cNvPr name="Freeform 11" id="11" descr="port scan.png"/>
            <p:cNvSpPr/>
            <p:nvPr/>
          </p:nvSpPr>
          <p:spPr>
            <a:xfrm flipH="false" flipV="false" rot="0">
              <a:off x="0" y="0"/>
              <a:ext cx="21975063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975063">
                  <a:moveTo>
                    <a:pt x="0" y="0"/>
                  </a:moveTo>
                  <a:lnTo>
                    <a:pt x="21975063" y="0"/>
                  </a:lnTo>
                  <a:lnTo>
                    <a:pt x="21975063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" r="0" b="-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9167812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Port-scan behavior generated a high-severity threshold alert grouped by source IP.</a:t>
            </a:r>
          </a:p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rule identifies repeated connection attempts that may indicate network discovery or attack preparation.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8156257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7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SSH Brute Force Detection Alert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Repeated authentication failures detected as a threshold event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8335" y="1727454"/>
            <a:ext cx="16586645" cy="6829920"/>
            <a:chOff x="0" y="0"/>
            <a:chExt cx="22115526" cy="9106560"/>
          </a:xfrm>
        </p:grpSpPr>
        <p:sp>
          <p:nvSpPr>
            <p:cNvPr name="Freeform 11" id="11" descr="ssh.png"/>
            <p:cNvSpPr/>
            <p:nvPr/>
          </p:nvSpPr>
          <p:spPr>
            <a:xfrm flipH="false" flipV="false" rot="0">
              <a:off x="0" y="0"/>
              <a:ext cx="22115526" cy="9106535"/>
            </a:xfrm>
            <a:custGeom>
              <a:avLst/>
              <a:gdLst/>
              <a:ahLst/>
              <a:cxnLst/>
              <a:rect r="r" b="b" t="t" l="l"/>
              <a:pathLst>
                <a:path h="9106535" w="22115526">
                  <a:moveTo>
                    <a:pt x="0" y="0"/>
                  </a:moveTo>
                  <a:lnTo>
                    <a:pt x="22115526" y="0"/>
                  </a:lnTo>
                  <a:lnTo>
                    <a:pt x="22115526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9811702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failed SSH attempts generated a medium-severity brute-force alert.</a:t>
            </a:r>
          </a:p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threshold count and source-IP grouping help analysts distinguish sustained attacks from isolated login failures.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9174480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02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Threat Intelligence IOC Match Alert</a:t>
            </a:r>
          </a:p>
          <a:p>
            <a:pPr algn="l">
              <a:lnSpc>
                <a:spcPts val="1980"/>
              </a:lnSpc>
            </a:pPr>
            <a:r>
              <a:rPr lang="en-US" sz="1650" spc="-28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MISP-enriched indicator matching in Elastic Security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02240" y="1727454"/>
            <a:ext cx="16277768" cy="6829920"/>
            <a:chOff x="0" y="0"/>
            <a:chExt cx="21703690" cy="9106560"/>
          </a:xfrm>
        </p:grpSpPr>
        <p:sp>
          <p:nvSpPr>
            <p:cNvPr name="Freeform 11" id="11" descr="threat ioc misp.png"/>
            <p:cNvSpPr/>
            <p:nvPr/>
          </p:nvSpPr>
          <p:spPr>
            <a:xfrm flipH="false" flipV="false" rot="0">
              <a:off x="0" y="0"/>
              <a:ext cx="21703664" cy="9106535"/>
            </a:xfrm>
            <a:custGeom>
              <a:avLst/>
              <a:gdLst/>
              <a:ahLst/>
              <a:cxnLst/>
              <a:rect r="r" b="b" t="t" l="l"/>
              <a:pathLst>
                <a:path h="9106535" w="21703664">
                  <a:moveTo>
                    <a:pt x="0" y="0"/>
                  </a:moveTo>
                  <a:lnTo>
                    <a:pt x="21703664" y="0"/>
                  </a:lnTo>
                  <a:lnTo>
                    <a:pt x="21703664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" r="0" b="-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8636318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IOC match produced a critical-severity alert with a risk score of 90.</a:t>
            </a:r>
          </a:p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alert links network fields with threat intelligence, increasing confidence and investigation priority.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8734425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187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Web Enumeration / 404 Scan Alert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Detection of repeated requests for nonexistent web resources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5096" y="1727454"/>
            <a:ext cx="16592588" cy="6829920"/>
            <a:chOff x="0" y="0"/>
            <a:chExt cx="22123451" cy="9106560"/>
          </a:xfrm>
        </p:grpSpPr>
        <p:sp>
          <p:nvSpPr>
            <p:cNvPr name="Freeform 11" id="11" descr="web enum.png"/>
            <p:cNvSpPr/>
            <p:nvPr/>
          </p:nvSpPr>
          <p:spPr>
            <a:xfrm flipH="false" flipV="false" rot="0">
              <a:off x="0" y="0"/>
              <a:ext cx="22123400" cy="9106535"/>
            </a:xfrm>
            <a:custGeom>
              <a:avLst/>
              <a:gdLst/>
              <a:ahLst/>
              <a:cxnLst/>
              <a:rect r="r" b="b" t="t" l="l"/>
              <a:pathLst>
                <a:path h="9106535" w="22123400">
                  <a:moveTo>
                    <a:pt x="0" y="0"/>
                  </a:moveTo>
                  <a:lnTo>
                    <a:pt x="22123400" y="0"/>
                  </a:lnTo>
                  <a:lnTo>
                    <a:pt x="22123400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" r="0" b="-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984123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Web-enumeration activity generated a medium-severity threshold alert grouped by source IP.</a:t>
            </a:r>
          </a:p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Repeated 404 requests can indicate automated directory discovery or reconnaissance against the web service.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6340792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3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AWS VPN EC2 Instance</a:t>
            </a:r>
          </a:p>
          <a:p>
            <a:pPr algn="l">
              <a:lnSpc>
                <a:spcPts val="1980"/>
              </a:lnSpc>
            </a:pPr>
            <a:r>
              <a:rPr lang="en-US" sz="1650" spc="-13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Cloud-hosted gateway providing the hybrid network entry point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21107" y="1727454"/>
            <a:ext cx="11841118" cy="6829920"/>
            <a:chOff x="0" y="0"/>
            <a:chExt cx="15788157" cy="9106560"/>
          </a:xfrm>
        </p:grpSpPr>
        <p:sp>
          <p:nvSpPr>
            <p:cNvPr name="Freeform 11" id="11" descr="Screenshot 2026-08-06 231656.png"/>
            <p:cNvSpPr/>
            <p:nvPr/>
          </p:nvSpPr>
          <p:spPr>
            <a:xfrm flipH="false" flipV="false" rot="0">
              <a:off x="0" y="0"/>
              <a:ext cx="15788132" cy="9106535"/>
            </a:xfrm>
            <a:custGeom>
              <a:avLst/>
              <a:gdLst/>
              <a:ahLst/>
              <a:cxnLst/>
              <a:rect r="r" b="b" t="t" l="l"/>
              <a:pathLst>
                <a:path h="9106535" w="15788132">
                  <a:moveTo>
                    <a:pt x="0" y="0"/>
                  </a:moveTo>
                  <a:lnTo>
                    <a:pt x="15788132" y="0"/>
                  </a:lnTo>
                  <a:lnTo>
                    <a:pt x="15788132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10581322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project VPN EC2 instance is running with an Elastic IP, private address, VPC, subnet and IAM role.</a:t>
            </a:r>
          </a:p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instance serves as the centrally reachable gateway connecting the on-premises lab to segmented SOC networks.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597637" y="197453"/>
            <a:ext cx="12290107" cy="113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spc="-210">
                <a:solidFill>
                  <a:srgbClr val="173C67"/>
                </a:solidFill>
                <a:latin typeface="Arial"/>
                <a:ea typeface="Arial"/>
                <a:cs typeface="Arial"/>
                <a:sym typeface="Arial"/>
              </a:rPr>
              <a:t>AWS VPN Gateway — Interfaces, Routes &amp; Peers</a:t>
            </a:r>
          </a:p>
          <a:p>
            <a:pPr algn="l">
              <a:lnSpc>
                <a:spcPts val="1980"/>
              </a:lnSpc>
            </a:pPr>
            <a:r>
              <a:rPr lang="en-US" sz="1650" spc="1">
                <a:solidFill>
                  <a:srgbClr val="2D6E9D"/>
                </a:solidFill>
                <a:latin typeface="Tomorrow"/>
                <a:ea typeface="Tomorrow"/>
                <a:cs typeface="Tomorrow"/>
                <a:sym typeface="Tomorrow"/>
              </a:rPr>
              <a:t>WireGuard configuration, routing and forwarding on the EC2 gateway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2362" y="1421282"/>
            <a:ext cx="1724216" cy="64960"/>
          </a:xfrm>
          <a:custGeom>
            <a:avLst/>
            <a:gdLst/>
            <a:ahLst/>
            <a:cxnLst/>
            <a:rect r="r" b="b" t="t" l="l"/>
            <a:pathLst>
              <a:path h="64960" w="1724216">
                <a:moveTo>
                  <a:pt x="0" y="0"/>
                </a:moveTo>
                <a:lnTo>
                  <a:pt x="1724216" y="0"/>
                </a:lnTo>
                <a:lnTo>
                  <a:pt x="1724216" y="64961"/>
                </a:lnTo>
                <a:lnTo>
                  <a:pt x="0" y="64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902" y="365036"/>
            <a:ext cx="2410016" cy="476440"/>
          </a:xfrm>
          <a:custGeom>
            <a:avLst/>
            <a:gdLst/>
            <a:ahLst/>
            <a:cxnLst/>
            <a:rect r="r" b="b" t="t" l="l"/>
            <a:pathLst>
              <a:path h="476440" w="2410016">
                <a:moveTo>
                  <a:pt x="0" y="0"/>
                </a:moveTo>
                <a:lnTo>
                  <a:pt x="2410016" y="0"/>
                </a:lnTo>
                <a:lnTo>
                  <a:pt x="2410016" y="476441"/>
                </a:lnTo>
                <a:lnTo>
                  <a:pt x="0" y="47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03150" y="461686"/>
            <a:ext cx="1644967" cy="25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27">
                <a:solidFill>
                  <a:srgbClr val="2D6E9D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847" y="1728006"/>
            <a:ext cx="16775430" cy="6831330"/>
          </a:xfrm>
          <a:custGeom>
            <a:avLst/>
            <a:gdLst/>
            <a:ahLst/>
            <a:cxnLst/>
            <a:rect r="r" b="b" t="t" l="l"/>
            <a:pathLst>
              <a:path h="6831330" w="16775430">
                <a:moveTo>
                  <a:pt x="0" y="0"/>
                </a:moveTo>
                <a:lnTo>
                  <a:pt x="16775430" y="0"/>
                </a:lnTo>
                <a:lnTo>
                  <a:pt x="16775430" y="6831330"/>
                </a:lnTo>
                <a:lnTo>
                  <a:pt x="0" y="683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398" y="1718558"/>
            <a:ext cx="16794328" cy="6850228"/>
          </a:xfrm>
          <a:custGeom>
            <a:avLst/>
            <a:gdLst/>
            <a:ahLst/>
            <a:cxnLst/>
            <a:rect r="r" b="b" t="t" l="l"/>
            <a:pathLst>
              <a:path h="6850228" w="16794328">
                <a:moveTo>
                  <a:pt x="0" y="0"/>
                </a:moveTo>
                <a:lnTo>
                  <a:pt x="16794327" y="0"/>
                </a:lnTo>
                <a:lnTo>
                  <a:pt x="16794327" y="6850227"/>
                </a:lnTo>
                <a:lnTo>
                  <a:pt x="0" y="68502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864701" y="1727454"/>
            <a:ext cx="12553378" cy="6829920"/>
            <a:chOff x="0" y="0"/>
            <a:chExt cx="16737838" cy="9106560"/>
          </a:xfrm>
        </p:grpSpPr>
        <p:sp>
          <p:nvSpPr>
            <p:cNvPr name="Freeform 11" id="11" descr="Screenshot 2026-08-06 233919.png"/>
            <p:cNvSpPr/>
            <p:nvPr/>
          </p:nvSpPr>
          <p:spPr>
            <a:xfrm flipH="false" flipV="false" rot="0">
              <a:off x="0" y="0"/>
              <a:ext cx="16737837" cy="9106535"/>
            </a:xfrm>
            <a:custGeom>
              <a:avLst/>
              <a:gdLst/>
              <a:ahLst/>
              <a:cxnLst/>
              <a:rect r="r" b="b" t="t" l="l"/>
              <a:pathLst>
                <a:path h="9106535" w="16737837">
                  <a:moveTo>
                    <a:pt x="0" y="0"/>
                  </a:moveTo>
                  <a:lnTo>
                    <a:pt x="16737837" y="0"/>
                  </a:lnTo>
                  <a:lnTo>
                    <a:pt x="16737837" y="9106535"/>
                  </a:lnTo>
                  <a:lnTo>
                    <a:pt x="0" y="910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" r="0" b="-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8436" y="8772849"/>
            <a:ext cx="16785146" cy="1039368"/>
          </a:xfrm>
          <a:custGeom>
            <a:avLst/>
            <a:gdLst/>
            <a:ahLst/>
            <a:cxnLst/>
            <a:rect r="r" b="b" t="t" l="l"/>
            <a:pathLst>
              <a:path h="1039368" w="16785146">
                <a:moveTo>
                  <a:pt x="0" y="0"/>
                </a:moveTo>
                <a:lnTo>
                  <a:pt x="16785146" y="0"/>
                </a:lnTo>
                <a:lnTo>
                  <a:pt x="1678514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9650" y="8840857"/>
            <a:ext cx="1211961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gateway exposes WireGuard addresses for the DMZ, internal security and additional routed network segments.</a:t>
            </a:r>
          </a:p>
          <a:p>
            <a:pPr algn="l">
              <a:lnSpc>
                <a:spcPts val="1709"/>
              </a:lnSpc>
            </a:pPr>
            <a:r>
              <a:rPr lang="en-US" sz="1425" spc="-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IP forwarding is enabled, routes are installed and active peer handshakes confirm live encrypted connectivity.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502358"/>
            <a:ext cx="705296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949" spc="-20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Troubleshooting — Network &amp; VPN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0228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 spc="-4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Real-world connectivity issues and the fixes applied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573985" y="582082"/>
            <a:ext cx="1562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131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TROUBLESHOOTING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14311" y="1705851"/>
            <a:ext cx="16612429" cy="1387669"/>
          </a:xfrm>
          <a:custGeom>
            <a:avLst/>
            <a:gdLst/>
            <a:ahLst/>
            <a:cxnLst/>
            <a:rect r="r" b="b" t="t" l="l"/>
            <a:pathLst>
              <a:path h="1387669" w="16612429">
                <a:moveTo>
                  <a:pt x="0" y="0"/>
                </a:moveTo>
                <a:lnTo>
                  <a:pt x="16612429" y="0"/>
                </a:lnTo>
                <a:lnTo>
                  <a:pt x="16612429" y="1387669"/>
                </a:lnTo>
                <a:lnTo>
                  <a:pt x="0" y="1387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6277" y="1925526"/>
            <a:ext cx="368617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spc="-84">
                <a:solidFill>
                  <a:srgbClr val="C14039"/>
                </a:solidFill>
                <a:latin typeface="Arial"/>
                <a:ea typeface="Arial"/>
                <a:cs typeface="Arial"/>
                <a:sym typeface="Arial"/>
              </a:rPr>
              <a:t>VPN blocked by organization firewall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55870" y="1899695"/>
            <a:ext cx="8715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1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8357" y="1906438"/>
            <a:ext cx="4088130" cy="44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WireGuard default UDP 51820 could not traverse the network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4637" y="1899695"/>
            <a:ext cx="85534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6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87657" y="2043598"/>
            <a:ext cx="4206240" cy="6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Tunnel WireGuard over wstunnel on TCP 443; evaluate OpenVPN TCP 443 / Tailscale as fallback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4311" y="3488931"/>
            <a:ext cx="16612429" cy="1387669"/>
          </a:xfrm>
          <a:custGeom>
            <a:avLst/>
            <a:gdLst/>
            <a:ahLst/>
            <a:cxnLst/>
            <a:rect r="r" b="b" t="t" l="l"/>
            <a:pathLst>
              <a:path h="1387669" w="16612429">
                <a:moveTo>
                  <a:pt x="0" y="0"/>
                </a:moveTo>
                <a:lnTo>
                  <a:pt x="16612429" y="0"/>
                </a:lnTo>
                <a:lnTo>
                  <a:pt x="16612429" y="1387669"/>
                </a:lnTo>
                <a:lnTo>
                  <a:pt x="0" y="1387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46277" y="3708606"/>
            <a:ext cx="319468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spc="-118">
                <a:solidFill>
                  <a:srgbClr val="C14039"/>
                </a:solidFill>
                <a:latin typeface="Arial"/>
                <a:ea typeface="Arial"/>
                <a:cs typeface="Arial"/>
                <a:sym typeface="Arial"/>
              </a:rPr>
              <a:t>Routing between subnets failed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55870" y="3682775"/>
            <a:ext cx="8715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1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58357" y="3789064"/>
            <a:ext cx="40967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IP forwarding / NAT / route configuration incomplete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84637" y="3682775"/>
            <a:ext cx="85534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6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87657" y="3826678"/>
            <a:ext cx="4122420" cy="44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Enable forwarding, configure nftables/NAT and verify AllowedIPs / routes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14311" y="5272011"/>
            <a:ext cx="16612429" cy="1387669"/>
          </a:xfrm>
          <a:custGeom>
            <a:avLst/>
            <a:gdLst/>
            <a:ahLst/>
            <a:cxnLst/>
            <a:rect r="r" b="b" t="t" l="l"/>
            <a:pathLst>
              <a:path h="1387669" w="16612429">
                <a:moveTo>
                  <a:pt x="0" y="0"/>
                </a:moveTo>
                <a:lnTo>
                  <a:pt x="16612429" y="0"/>
                </a:lnTo>
                <a:lnTo>
                  <a:pt x="16612429" y="1387669"/>
                </a:lnTo>
                <a:lnTo>
                  <a:pt x="0" y="1387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6277" y="5371805"/>
            <a:ext cx="362235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spc="-101">
                <a:solidFill>
                  <a:srgbClr val="C14039"/>
                </a:solidFill>
                <a:latin typeface="Arial"/>
                <a:ea typeface="Arial"/>
                <a:cs typeface="Arial"/>
                <a:sym typeface="Arial"/>
              </a:rPr>
              <a:t>Traffic visible in tcpdump but no IDS alert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55870" y="5465855"/>
            <a:ext cx="8715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1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8357" y="5472598"/>
            <a:ext cx="4242435" cy="44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Suricata interface/rule coverage did not match the test traffic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4637" y="5465855"/>
            <a:ext cx="85534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6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87657" y="5609758"/>
            <a:ext cx="4386262" cy="44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Validate af-packet interface, update rules, run suricata -T and use a known signature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14311" y="7055091"/>
            <a:ext cx="16612429" cy="1387669"/>
          </a:xfrm>
          <a:custGeom>
            <a:avLst/>
            <a:gdLst/>
            <a:ahLst/>
            <a:cxnLst/>
            <a:rect r="r" b="b" t="t" l="l"/>
            <a:pathLst>
              <a:path h="1387669" w="16612429">
                <a:moveTo>
                  <a:pt x="0" y="0"/>
                </a:moveTo>
                <a:lnTo>
                  <a:pt x="16612429" y="0"/>
                </a:lnTo>
                <a:lnTo>
                  <a:pt x="16612429" y="1387669"/>
                </a:lnTo>
                <a:lnTo>
                  <a:pt x="0" y="1387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46277" y="7154885"/>
            <a:ext cx="333565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spc="-50">
                <a:solidFill>
                  <a:srgbClr val="C14039"/>
                </a:solidFill>
                <a:latin typeface="Arial"/>
                <a:ea typeface="Arial"/>
                <a:cs typeface="Arial"/>
                <a:sym typeface="Arial"/>
              </a:rPr>
              <a:t>Dual-homed hosts created wrong DNS entries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0477" y="9756753"/>
            <a:ext cx="2277428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51994" y="9768183"/>
            <a:ext cx="21859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Hybrid Enterprise SOC Lab  39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55870" y="7248935"/>
            <a:ext cx="8715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1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Root cause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58357" y="7355224"/>
            <a:ext cx="37928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spc="-4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Transport NIC auto-registered non-AD addresses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84637" y="7248935"/>
            <a:ext cx="85534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spc="-69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87657" y="7392838"/>
            <a:ext cx="4291965" cy="44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474" spc="-1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Disable DNS registration on the transport interface and remove stray records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92452"/>
            <a:ext cx="100288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049" spc="-210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Troubleshooting — Elastic, AD &amp; AWS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67323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24" spc="-4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Configuration problems were isolated by testing each layer independently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573985" y="591607"/>
            <a:ext cx="168531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140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TROUBLESHOOTING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3444" y="1637824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6277" y="1867938"/>
            <a:ext cx="217503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3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SSSD user not found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6277" y="2485244"/>
            <a:ext cx="668369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3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use_fully_qualified_names remained True or setting was placed in the wrong section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6277" y="3047762"/>
            <a:ext cx="609219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Move setting to [domain/kpk.local], clear SSSD cache and restart service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250204" y="1637824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13037" y="1867938"/>
            <a:ext cx="240411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107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Home directory missing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13037" y="2485244"/>
            <a:ext cx="39319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PAM home-directory creation was not enabled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3037" y="3047762"/>
            <a:ext cx="527399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Enable oddjob-mkhomedir / pam_mkhomedir and retest login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83444" y="3997071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46277" y="4107323"/>
            <a:ext cx="435006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114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Duplicate DNS / PTR records</a:t>
            </a:r>
          </a:p>
          <a:p>
            <a:pPr algn="l">
              <a:lnSpc>
                <a:spcPts val="2249"/>
              </a:lnSpc>
            </a:pPr>
          </a:p>
          <a:p>
            <a:pPr algn="l">
              <a:lnSpc>
                <a:spcPts val="1799"/>
              </a:lnSpc>
            </a:pPr>
            <a:r>
              <a:rPr lang="en-US" sz="1499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Manual records conflicted with dynamic registration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277" y="5407028"/>
            <a:ext cx="527780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4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Remove duplicates and allow the DC to self-manage its record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50204" y="3997071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13037" y="4107323"/>
            <a:ext cx="472821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88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AWS S3 notification validation failed</a:t>
            </a:r>
          </a:p>
          <a:p>
            <a:pPr algn="l">
              <a:lnSpc>
                <a:spcPts val="2249"/>
              </a:lnSpc>
            </a:pPr>
          </a:p>
          <a:p>
            <a:pPr algn="l">
              <a:lnSpc>
                <a:spcPts val="1799"/>
              </a:lnSpc>
            </a:pPr>
            <a:r>
              <a:rPr lang="en-US" sz="1499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Destination policy did not allow the bucket / event source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13037" y="5407028"/>
            <a:ext cx="39243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4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Correct SQS access policy and aws:SourceArn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83444" y="6356337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46277" y="6466589"/>
            <a:ext cx="383978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123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Filebeat could read SQS but not consume</a:t>
            </a:r>
          </a:p>
          <a:p>
            <a:pPr algn="l">
              <a:lnSpc>
                <a:spcPts val="2249"/>
              </a:lnSpc>
            </a:pPr>
          </a:p>
          <a:p>
            <a:pPr algn="l">
              <a:lnSpc>
                <a:spcPts val="1799"/>
              </a:lnSpc>
            </a:pPr>
            <a:r>
              <a:rPr lang="en-US" sz="1499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Read-only policy lacked consumer actions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6277" y="7654290"/>
            <a:ext cx="7099935" cy="48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6"/>
              </a:lnSpc>
            </a:pPr>
            <a:r>
              <a:rPr lang="en-US" sz="1499" spc="-65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Add ReceiveMessage, DeleteMessage, ChangeMessageVisibility and queue metadata actions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250204" y="6356337"/>
            <a:ext cx="7902769" cy="1963931"/>
          </a:xfrm>
          <a:custGeom>
            <a:avLst/>
            <a:gdLst/>
            <a:ahLst/>
            <a:cxnLst/>
            <a:rect r="r" b="b" t="t" l="l"/>
            <a:pathLst>
              <a:path h="1963931" w="7902769">
                <a:moveTo>
                  <a:pt x="0" y="0"/>
                </a:moveTo>
                <a:lnTo>
                  <a:pt x="7902768" y="0"/>
                </a:lnTo>
                <a:lnTo>
                  <a:pt x="7902768" y="1963931"/>
                </a:lnTo>
                <a:lnTo>
                  <a:pt x="0" y="1963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513037" y="6466589"/>
            <a:ext cx="400431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spc="-78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Rule did not fire despite an AWS action</a:t>
            </a:r>
          </a:p>
          <a:p>
            <a:pPr algn="l">
              <a:lnSpc>
                <a:spcPts val="2249"/>
              </a:lnSpc>
            </a:pPr>
          </a:p>
          <a:p>
            <a:pPr algn="l">
              <a:lnSpc>
                <a:spcPts val="1799"/>
              </a:lnSpc>
            </a:pPr>
            <a:r>
              <a:rPr lang="en-US" sz="1499" spc="-35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Cause: CloudTrail delivery delay exceeded rule window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0477" y="9756753"/>
            <a:ext cx="2277428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51994" y="9768183"/>
            <a:ext cx="21859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Tomorrow"/>
                <a:ea typeface="Tomorrow"/>
                <a:cs typeface="Tomorrow"/>
                <a:sym typeface="Tomorrow"/>
              </a:rPr>
              <a:t>Hybrid Enterprise SOC Lab  39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3037" y="7766275"/>
            <a:ext cx="6667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37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Fix: Search Event History/S3 first, then increase rule look-back and wait for delivery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5465" y="492452"/>
            <a:ext cx="100288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049" spc="-194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Security &amp; Engineering Decisions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602850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24" spc="-3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Why the implementation is more than a basic ELK deployment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48101" y="591607"/>
            <a:ext cx="61436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121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3977" y="184409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9" y="0"/>
                </a:lnTo>
                <a:lnTo>
                  <a:pt x="5117659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9779" y="227372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8350" y="2222078"/>
            <a:ext cx="24841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7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Network segmentation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9963" y="3189761"/>
            <a:ext cx="43757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3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Separate DMZ and internal security services to reduce attack surface and lateral movement.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48571" y="184409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9" y="0"/>
                </a:lnTo>
                <a:lnTo>
                  <a:pt x="5117659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94372" y="227372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2944" y="2222078"/>
            <a:ext cx="28908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5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Encrypted hybrid transport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59816" y="3189761"/>
            <a:ext cx="404431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Use a central VPN gateway and encrypted tunnels instead of exposing internal services publicly.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213184" y="184409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8" y="0"/>
                </a:lnTo>
                <a:lnTo>
                  <a:pt x="5117658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58966" y="227372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67556" y="2222078"/>
            <a:ext cx="3260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62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Least-privilege cloud ingestion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48165" y="3189761"/>
            <a:ext cx="39966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3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Dedicated non-console IAM identity with only the S3/SQS actions required by Filebeat.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83977" y="520451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9" y="0"/>
                </a:lnTo>
                <a:lnTo>
                  <a:pt x="5117659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29779" y="563414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38350" y="5582498"/>
            <a:ext cx="18507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7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Buffered pipeline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7659" y="6550181"/>
            <a:ext cx="40595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4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Kafka protects ingestion continuity and decouples collectors from Elasticsearch availability.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548571" y="520451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9" y="0"/>
                </a:lnTo>
                <a:lnTo>
                  <a:pt x="5117659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94372" y="563414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02944" y="5582498"/>
            <a:ext cx="16868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5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Central identity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54202" y="6447044"/>
            <a:ext cx="365569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34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AD-backed user authentication with explicit separation between authentication and sudo authorization.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213184" y="5204517"/>
            <a:ext cx="5117659" cy="2552576"/>
          </a:xfrm>
          <a:custGeom>
            <a:avLst/>
            <a:gdLst/>
            <a:ahLst/>
            <a:cxnLst/>
            <a:rect r="r" b="b" t="t" l="l"/>
            <a:pathLst>
              <a:path h="2552576" w="5117659">
                <a:moveTo>
                  <a:pt x="0" y="0"/>
                </a:moveTo>
                <a:lnTo>
                  <a:pt x="5117658" y="0"/>
                </a:lnTo>
                <a:lnTo>
                  <a:pt x="5117658" y="2552576"/>
                </a:lnTo>
                <a:lnTo>
                  <a:pt x="0" y="2552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758966" y="5634142"/>
            <a:ext cx="13144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4" spc="-9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39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7556" y="5582498"/>
            <a:ext cx="256127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spc="-7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Threat-intel enrichment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19653" y="6550181"/>
            <a:ext cx="42538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 spc="-1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MISP indicators add context before alert generation, improving triage quality.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4F6F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 descr="$PPTXTitle"/>
          <p:cNvSpPr txBox="true"/>
          <p:nvPr/>
        </p:nvSpPr>
        <p:spPr>
          <a:xfrm rot="0">
            <a:off x="597637" y="492833"/>
            <a:ext cx="260776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spc="-165">
                <a:solidFill>
                  <a:srgbClr val="1D395E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597" y="1260358"/>
            <a:ext cx="1771736" cy="58188"/>
            <a:chOff x="0" y="0"/>
            <a:chExt cx="2362314" cy="7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327" cy="43434"/>
            </a:xfrm>
            <a:custGeom>
              <a:avLst/>
              <a:gdLst/>
              <a:ahLst/>
              <a:cxnLst/>
              <a:rect r="r" b="b" t="t" l="l"/>
              <a:pathLst>
                <a:path h="43434" w="2362327">
                  <a:moveTo>
                    <a:pt x="0" y="0"/>
                  </a:moveTo>
                  <a:lnTo>
                    <a:pt x="2362327" y="43434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970450" r="0" b="-1049076"/>
              </a:stretch>
            </a:blipFill>
            <a:ln w="57238" cap="sq">
              <a:solidFill>
                <a:srgbClr val="F49D0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517877" y="1162593"/>
            <a:ext cx="593788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Priority improvements for production readiness and deeper detection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46731" y="511111"/>
            <a:ext cx="2419198" cy="485623"/>
          </a:xfrm>
          <a:custGeom>
            <a:avLst/>
            <a:gdLst/>
            <a:ahLst/>
            <a:cxnLst/>
            <a:rect r="r" b="b" t="t" l="l"/>
            <a:pathLst>
              <a:path h="485623" w="2419198">
                <a:moveTo>
                  <a:pt x="0" y="0"/>
                </a:moveTo>
                <a:lnTo>
                  <a:pt x="2419198" y="0"/>
                </a:lnTo>
                <a:lnTo>
                  <a:pt x="2419198" y="485623"/>
                </a:lnTo>
                <a:lnTo>
                  <a:pt x="0" y="48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44964" y="582082"/>
            <a:ext cx="82200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-82">
                <a:solidFill>
                  <a:srgbClr val="2E6A9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3367" y="1638633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15186" y="1845688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06397" y="1856946"/>
            <a:ext cx="193548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Identity detections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5337" y="1906667"/>
            <a:ext cx="113042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Winlogbeat/WEF coverage for AD failed logins, Kerberos abuse, privileged group changes and Golden Ticket indicators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3367" y="2653827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15186" y="2860900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6397" y="2872159"/>
            <a:ext cx="19126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7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Access governance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55337" y="2921860"/>
            <a:ext cx="991696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Map AD groups to Linux sudo and application roles; integrate MISP LDAP authentication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3367" y="3668487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15186" y="3875561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6397" y="3886819"/>
            <a:ext cx="15335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53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VPN hardening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5337" y="3936521"/>
            <a:ext cx="873829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Complete nftables policy, restrict east-west access and add monitoring for tunnel health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3367" y="4683681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15186" y="4890754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06397" y="4902013"/>
            <a:ext cx="123158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60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55337" y="4951733"/>
            <a:ext cx="90560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1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Systemd service for Filebeat, automated backups, rule export/version control and health alerts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53367" y="5698341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15186" y="5905948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06397" y="5916673"/>
            <a:ext cx="103536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121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55337" y="5966927"/>
            <a:ext cx="84715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36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Multi-node Elasticsearch/Kafka, snapshots, ILM tuning and disaster-recovery testing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53367" y="6713553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15186" y="6920608"/>
            <a:ext cx="131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9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06397" y="6931866"/>
            <a:ext cx="15563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76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SOC operations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55337" y="6981587"/>
            <a:ext cx="1033034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1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Case management, alert notifications, playbooks, threat hunting and measurable MTTD/MTTR dashboards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53367" y="7728747"/>
            <a:ext cx="16404117" cy="754542"/>
          </a:xfrm>
          <a:custGeom>
            <a:avLst/>
            <a:gdLst/>
            <a:ahLst/>
            <a:cxnLst/>
            <a:rect r="r" b="b" t="t" l="l"/>
            <a:pathLst>
              <a:path h="754542" w="16404117">
                <a:moveTo>
                  <a:pt x="0" y="0"/>
                </a:moveTo>
                <a:lnTo>
                  <a:pt x="16404117" y="0"/>
                </a:lnTo>
                <a:lnTo>
                  <a:pt x="16404117" y="754542"/>
                </a:lnTo>
                <a:lnTo>
                  <a:pt x="0" y="7545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07624" y="7918542"/>
            <a:ext cx="1476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7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0477" y="9756753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51994" y="9758658"/>
            <a:ext cx="21859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39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06397" y="7930410"/>
            <a:ext cx="27146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79">
                <a:solidFill>
                  <a:srgbClr val="16202A"/>
                </a:solidFill>
                <a:latin typeface="Arial"/>
                <a:ea typeface="Arial"/>
                <a:cs typeface="Arial"/>
                <a:sym typeface="Arial"/>
              </a:rPr>
              <a:t>Deception &amp; Honeypots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5337" y="7968224"/>
            <a:ext cx="113042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-27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Deploy Cowrie and Dionaea as controlled decoys to capture attacker behaviour and enrich Elastic/MISP detections.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64783"/>
            <a:chOff x="0" y="0"/>
            <a:chExt cx="24384000" cy="219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492" cy="218821"/>
            </a:xfrm>
            <a:custGeom>
              <a:avLst/>
              <a:gdLst/>
              <a:ahLst/>
              <a:cxnLst/>
              <a:rect r="r" b="b" t="t" l="l"/>
              <a:pathLst>
                <a:path h="218821" w="24383492">
                  <a:moveTo>
                    <a:pt x="24383492" y="0"/>
                  </a:moveTo>
                  <a:lnTo>
                    <a:pt x="0" y="0"/>
                  </a:lnTo>
                  <a:lnTo>
                    <a:pt x="0" y="218821"/>
                  </a:lnTo>
                  <a:lnTo>
                    <a:pt x="12191746" y="218821"/>
                  </a:lnTo>
                  <a:lnTo>
                    <a:pt x="24383492" y="218821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153962"/>
            </a:solidFill>
          </p:spPr>
        </p:sp>
      </p:grpSp>
      <p:sp>
        <p:nvSpPr>
          <p:cNvPr name="TextBox 6" id="6" descr="$PPTXTitle"/>
          <p:cNvSpPr txBox="true"/>
          <p:nvPr/>
        </p:nvSpPr>
        <p:spPr>
          <a:xfrm rot="0">
            <a:off x="595465" y="453590"/>
            <a:ext cx="834270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-171">
                <a:solidFill>
                  <a:srgbClr val="153962"/>
                </a:solidFill>
                <a:latin typeface="Arial"/>
                <a:ea typeface="Arial"/>
                <a:cs typeface="Arial"/>
                <a:sym typeface="Arial"/>
              </a:rPr>
              <a:t>Future Scope: Deception &amp; Honeypots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465" y="1304077"/>
            <a:ext cx="109337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50">
                <a:solidFill>
                  <a:srgbClr val="4F6177"/>
                </a:solidFill>
                <a:latin typeface="Arial"/>
                <a:ea typeface="Arial"/>
                <a:cs typeface="Arial"/>
                <a:sym typeface="Arial"/>
              </a:rPr>
              <a:t>A controlled deception layer to expose attacker techniques before critical systems are reached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9522" y="2258282"/>
            <a:ext cx="5112258" cy="5016056"/>
          </a:xfrm>
          <a:custGeom>
            <a:avLst/>
            <a:gdLst/>
            <a:ahLst/>
            <a:cxnLst/>
            <a:rect r="r" b="b" t="t" l="l"/>
            <a:pathLst>
              <a:path h="5016056" w="5112258">
                <a:moveTo>
                  <a:pt x="0" y="0"/>
                </a:moveTo>
                <a:lnTo>
                  <a:pt x="5112258" y="0"/>
                </a:lnTo>
                <a:lnTo>
                  <a:pt x="5112258" y="5016056"/>
                </a:lnTo>
                <a:lnTo>
                  <a:pt x="0" y="5016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7111" y="2442391"/>
            <a:ext cx="16787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130" y="3430057"/>
            <a:ext cx="30305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50">
                <a:solidFill>
                  <a:srgbClr val="153962"/>
                </a:solidFill>
                <a:latin typeface="Arial"/>
                <a:ea typeface="Arial"/>
                <a:cs typeface="Arial"/>
                <a:sym typeface="Arial"/>
              </a:rPr>
              <a:t>Deploy decoy services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665" y="4796057"/>
            <a:ext cx="3439478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12">
                <a:solidFill>
                  <a:srgbClr val="4F6177"/>
                </a:solidFill>
                <a:latin typeface="Arial"/>
                <a:ea typeface="Arial"/>
                <a:cs typeface="Arial"/>
                <a:sym typeface="Arial"/>
              </a:rPr>
              <a:t>Run Cowrie for SSH/Telnet deception and Dionaea for malware/service emulation inside the isolated DMZ.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00629" y="2258282"/>
            <a:ext cx="5112258" cy="5016056"/>
          </a:xfrm>
          <a:custGeom>
            <a:avLst/>
            <a:gdLst/>
            <a:ahLst/>
            <a:cxnLst/>
            <a:rect r="r" b="b" t="t" l="l"/>
            <a:pathLst>
              <a:path h="5016056" w="5112258">
                <a:moveTo>
                  <a:pt x="0" y="0"/>
                </a:moveTo>
                <a:lnTo>
                  <a:pt x="5112258" y="0"/>
                </a:lnTo>
                <a:lnTo>
                  <a:pt x="5112258" y="5016056"/>
                </a:lnTo>
                <a:lnTo>
                  <a:pt x="0" y="5016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68217" y="2442391"/>
            <a:ext cx="16787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79925" y="3430057"/>
            <a:ext cx="29537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5">
                <a:solidFill>
                  <a:srgbClr val="153962"/>
                </a:solidFill>
                <a:latin typeface="Arial"/>
                <a:ea typeface="Arial"/>
                <a:cs typeface="Arial"/>
                <a:sym typeface="Arial"/>
              </a:rPr>
              <a:t>Capture attacker behaviour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23087" y="4796057"/>
            <a:ext cx="3861435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35">
                <a:solidFill>
                  <a:srgbClr val="4F6177"/>
                </a:solidFill>
                <a:latin typeface="Arial"/>
                <a:ea typeface="Arial"/>
                <a:cs typeface="Arial"/>
                <a:sym typeface="Arial"/>
              </a:rPr>
              <a:t>Record commands, login attempts, source IPs, payloads and interaction patterns as high-confidence telemetry.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051716" y="2258282"/>
            <a:ext cx="5112258" cy="5016056"/>
          </a:xfrm>
          <a:custGeom>
            <a:avLst/>
            <a:gdLst/>
            <a:ahLst/>
            <a:cxnLst/>
            <a:rect r="r" b="b" t="t" l="l"/>
            <a:pathLst>
              <a:path h="5016056" w="5112258">
                <a:moveTo>
                  <a:pt x="0" y="0"/>
                </a:moveTo>
                <a:lnTo>
                  <a:pt x="5112258" y="0"/>
                </a:lnTo>
                <a:lnTo>
                  <a:pt x="5112258" y="5016056"/>
                </a:lnTo>
                <a:lnTo>
                  <a:pt x="0" y="5016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19305" y="2442391"/>
            <a:ext cx="16787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01086" y="3430057"/>
            <a:ext cx="297343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27">
                <a:solidFill>
                  <a:srgbClr val="153962"/>
                </a:solidFill>
                <a:latin typeface="Arial"/>
                <a:ea typeface="Arial"/>
                <a:cs typeface="Arial"/>
                <a:sym typeface="Arial"/>
              </a:rPr>
              <a:t>Enrich SOC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52591" y="4796057"/>
            <a:ext cx="390429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12">
                <a:solidFill>
                  <a:srgbClr val="4F6177"/>
                </a:solidFill>
                <a:latin typeface="Arial"/>
                <a:ea typeface="Arial"/>
                <a:cs typeface="Arial"/>
                <a:sym typeface="Arial"/>
              </a:rPr>
              <a:t>Forward honeypot events to Elastic and correlate them with MISP IOCs to create alerts and investigation context.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6194" y="7886167"/>
            <a:ext cx="16185832" cy="1029652"/>
            <a:chOff x="0" y="0"/>
            <a:chExt cx="21581110" cy="13728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80729" cy="1372362"/>
            </a:xfrm>
            <a:custGeom>
              <a:avLst/>
              <a:gdLst/>
              <a:ahLst/>
              <a:cxnLst/>
              <a:rect r="r" b="b" t="t" l="l"/>
              <a:pathLst>
                <a:path h="1372362" w="21580729">
                  <a:moveTo>
                    <a:pt x="229743" y="0"/>
                  </a:moveTo>
                  <a:lnTo>
                    <a:pt x="142113" y="17653"/>
                  </a:lnTo>
                  <a:lnTo>
                    <a:pt x="67310" y="67437"/>
                  </a:lnTo>
                  <a:lnTo>
                    <a:pt x="18415" y="141605"/>
                  </a:lnTo>
                  <a:lnTo>
                    <a:pt x="762" y="228981"/>
                  </a:lnTo>
                  <a:lnTo>
                    <a:pt x="0" y="1143381"/>
                  </a:lnTo>
                  <a:lnTo>
                    <a:pt x="2032" y="1173353"/>
                  </a:lnTo>
                  <a:lnTo>
                    <a:pt x="7874" y="1202436"/>
                  </a:lnTo>
                  <a:lnTo>
                    <a:pt x="7874" y="1202690"/>
                  </a:lnTo>
                  <a:lnTo>
                    <a:pt x="17526" y="1230630"/>
                  </a:lnTo>
                  <a:lnTo>
                    <a:pt x="17653" y="1230884"/>
                  </a:lnTo>
                  <a:lnTo>
                    <a:pt x="67310" y="1305560"/>
                  </a:lnTo>
                  <a:lnTo>
                    <a:pt x="141605" y="1354709"/>
                  </a:lnTo>
                  <a:lnTo>
                    <a:pt x="228981" y="1372362"/>
                  </a:lnTo>
                  <a:lnTo>
                    <a:pt x="21351621" y="1372362"/>
                  </a:lnTo>
                  <a:lnTo>
                    <a:pt x="21439378" y="1354709"/>
                  </a:lnTo>
                  <a:lnTo>
                    <a:pt x="21513927" y="1305052"/>
                  </a:lnTo>
                  <a:lnTo>
                    <a:pt x="21562949" y="1231138"/>
                  </a:lnTo>
                  <a:lnTo>
                    <a:pt x="21563076" y="1230884"/>
                  </a:lnTo>
                  <a:lnTo>
                    <a:pt x="21572728" y="1202944"/>
                  </a:lnTo>
                  <a:lnTo>
                    <a:pt x="21572854" y="1202690"/>
                  </a:lnTo>
                  <a:lnTo>
                    <a:pt x="21578697" y="1173607"/>
                  </a:lnTo>
                  <a:lnTo>
                    <a:pt x="21580729" y="1143635"/>
                  </a:lnTo>
                  <a:lnTo>
                    <a:pt x="21580729" y="229235"/>
                  </a:lnTo>
                  <a:lnTo>
                    <a:pt x="21563203" y="142240"/>
                  </a:lnTo>
                  <a:lnTo>
                    <a:pt x="21513546" y="67691"/>
                  </a:lnTo>
                  <a:lnTo>
                    <a:pt x="21439251" y="18542"/>
                  </a:lnTo>
                  <a:lnTo>
                    <a:pt x="21351875" y="889"/>
                  </a:lnTo>
                  <a:lnTo>
                    <a:pt x="229743" y="0"/>
                  </a:lnTo>
                  <a:close/>
                </a:path>
              </a:pathLst>
            </a:custGeom>
            <a:solidFill>
              <a:srgbClr val="15396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98155" y="8175584"/>
            <a:ext cx="1112505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1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Attacker interaction </a:t>
            </a:r>
            <a:r>
              <a:rPr lang="en-US" b="true" sz="2250" spc="-14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→ </a:t>
            </a:r>
            <a:r>
              <a:rPr lang="en-US" sz="2250" spc="-1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Honeypot telemetry </a:t>
            </a:r>
            <a:r>
              <a:rPr lang="en-US" b="true" sz="2250" spc="-14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→ </a:t>
            </a:r>
            <a:r>
              <a:rPr lang="en-US" sz="2250" spc="-1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Elastic correlation </a:t>
            </a:r>
            <a:r>
              <a:rPr lang="en-US" b="true" sz="2250" spc="-14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→ </a:t>
            </a:r>
            <a:r>
              <a:rPr lang="en-US" sz="2250" spc="-1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MISP enrichment </a:t>
            </a:r>
            <a:r>
              <a:rPr lang="en-US" b="true" sz="2250" spc="-14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→ </a:t>
            </a:r>
            <a:r>
              <a:rPr lang="en-US" sz="2250" spc="-1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Early warning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952" cy="10287000"/>
            <a:chOff x="0" y="0"/>
            <a:chExt cx="2438527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2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254">
                  <a:moveTo>
                    <a:pt x="24384254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254" y="13716000"/>
                  </a:lnTo>
                  <a:lnTo>
                    <a:pt x="24384254" y="0"/>
                  </a:lnTo>
                  <a:close/>
                </a:path>
              </a:pathLst>
            </a:custGeom>
            <a:solidFill>
              <a:srgbClr val="1D395E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9982" y="-9982"/>
            <a:ext cx="18306898" cy="237973"/>
          </a:xfrm>
          <a:custGeom>
            <a:avLst/>
            <a:gdLst/>
            <a:ahLst/>
            <a:cxnLst/>
            <a:rect r="r" b="b" t="t" l="l"/>
            <a:pathLst>
              <a:path h="237973" w="18306898">
                <a:moveTo>
                  <a:pt x="0" y="0"/>
                </a:moveTo>
                <a:lnTo>
                  <a:pt x="18306897" y="0"/>
                </a:lnTo>
                <a:lnTo>
                  <a:pt x="18306897" y="237972"/>
                </a:lnTo>
                <a:lnTo>
                  <a:pt x="0" y="237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0477" y="9760277"/>
            <a:ext cx="227742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50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ELASTIC THREATOPS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7697" y="1049207"/>
            <a:ext cx="20288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-135">
                <a:solidFill>
                  <a:srgbClr val="9DC2DC"/>
                </a:solidFill>
                <a:latin typeface="Arial"/>
                <a:ea typeface="Arial"/>
                <a:cs typeface="Arial"/>
                <a:sym typeface="Arial"/>
              </a:rPr>
              <a:t>PROJECT OUTCOME</a:t>
            </a:r>
          </a:p>
        </p:txBody>
      </p:sp>
      <p:sp>
        <p:nvSpPr>
          <p:cNvPr name="TextBox 7" id="7" descr="$PPTXTitle"/>
          <p:cNvSpPr txBox="true"/>
          <p:nvPr/>
        </p:nvSpPr>
        <p:spPr>
          <a:xfrm rot="0">
            <a:off x="1429779" y="1816179"/>
            <a:ext cx="1496568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validated hybrid SOC pipeline — from telemetry to enriched alerts.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55878" y="4311091"/>
            <a:ext cx="3722218" cy="2144878"/>
          </a:xfrm>
          <a:custGeom>
            <a:avLst/>
            <a:gdLst/>
            <a:ahLst/>
            <a:cxnLst/>
            <a:rect r="r" b="b" t="t" l="l"/>
            <a:pathLst>
              <a:path h="2144878" w="3722218">
                <a:moveTo>
                  <a:pt x="0" y="0"/>
                </a:moveTo>
                <a:lnTo>
                  <a:pt x="3722217" y="0"/>
                </a:lnTo>
                <a:lnTo>
                  <a:pt x="3722217" y="2144878"/>
                </a:lnTo>
                <a:lnTo>
                  <a:pt x="0" y="2144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29701" y="4790856"/>
            <a:ext cx="19773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Hybrid visibility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2147" y="5577640"/>
            <a:ext cx="307181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3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Cloud + network + endpoint + identity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80292" y="4311091"/>
            <a:ext cx="3722218" cy="2144878"/>
          </a:xfrm>
          <a:custGeom>
            <a:avLst/>
            <a:gdLst/>
            <a:ahLst/>
            <a:cxnLst/>
            <a:rect r="r" b="b" t="t" l="l"/>
            <a:pathLst>
              <a:path h="2144878" w="3722218">
                <a:moveTo>
                  <a:pt x="0" y="0"/>
                </a:moveTo>
                <a:lnTo>
                  <a:pt x="3722217" y="0"/>
                </a:lnTo>
                <a:lnTo>
                  <a:pt x="3722217" y="2144878"/>
                </a:lnTo>
                <a:lnTo>
                  <a:pt x="0" y="2144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017076" y="4790856"/>
            <a:ext cx="245078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connectivity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92972" y="5577640"/>
            <a:ext cx="29003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3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Segmented VPN-based architecture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604705" y="4311091"/>
            <a:ext cx="3722218" cy="2144878"/>
          </a:xfrm>
          <a:custGeom>
            <a:avLst/>
            <a:gdLst/>
            <a:ahLst/>
            <a:cxnLst/>
            <a:rect r="r" b="b" t="t" l="l"/>
            <a:pathLst>
              <a:path h="2144878" w="3722218">
                <a:moveTo>
                  <a:pt x="0" y="0"/>
                </a:moveTo>
                <a:lnTo>
                  <a:pt x="3722218" y="0"/>
                </a:lnTo>
                <a:lnTo>
                  <a:pt x="3722218" y="2144878"/>
                </a:lnTo>
                <a:lnTo>
                  <a:pt x="0" y="2144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64261" y="4790856"/>
            <a:ext cx="26060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1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Actionable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2943" y="5577640"/>
            <a:ext cx="266985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3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Kibana rules and validated alerts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829671" y="4311091"/>
            <a:ext cx="3722218" cy="2144878"/>
          </a:xfrm>
          <a:custGeom>
            <a:avLst/>
            <a:gdLst/>
            <a:ahLst/>
            <a:cxnLst/>
            <a:rect r="r" b="b" t="t" l="l"/>
            <a:pathLst>
              <a:path h="2144878" w="3722218">
                <a:moveTo>
                  <a:pt x="0" y="0"/>
                </a:moveTo>
                <a:lnTo>
                  <a:pt x="3722218" y="0"/>
                </a:lnTo>
                <a:lnTo>
                  <a:pt x="3722218" y="2144878"/>
                </a:lnTo>
                <a:lnTo>
                  <a:pt x="0" y="2144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505870" y="4790856"/>
            <a:ext cx="23726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Threat intelligence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38129" y="5577640"/>
            <a:ext cx="310800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13">
                <a:solidFill>
                  <a:srgbClr val="D6E3EE"/>
                </a:solidFill>
                <a:latin typeface="Arial"/>
                <a:ea typeface="Arial"/>
                <a:cs typeface="Arial"/>
                <a:sym typeface="Arial"/>
              </a:rPr>
              <a:t>MISP enrichment in the event pipeline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41291" y="7714078"/>
            <a:ext cx="27622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-225">
                <a:solidFill>
                  <a:srgbClr val="FFD38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  <a:p>
            <a:pPr algn="l">
              <a:lnSpc>
                <a:spcPts val="2340"/>
              </a:lnSpc>
            </a:pPr>
            <a:r>
              <a:rPr lang="en-US" sz="1950" spc="-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51994" y="9762430"/>
            <a:ext cx="212883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3">
                <a:solidFill>
                  <a:srgbClr val="666F84"/>
                </a:solidFill>
                <a:latin typeface="Arial"/>
                <a:ea typeface="Arial"/>
                <a:cs typeface="Arial"/>
                <a:sym typeface="Arial"/>
              </a:rPr>
              <a:t>Hybrid Enterprise SOC Lab 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DAHRlZnLB60</dc:identifier>
  <dcterms:modified xsi:type="dcterms:W3CDTF">2011-08-01T06:04:30Z</dcterms:modified>
  <cp:revision>1</cp:revision>
  <dc:title>Elastic_ThreatOps_All_Screenshots_Final.pptx</dc:title>
</cp:coreProperties>
</file>